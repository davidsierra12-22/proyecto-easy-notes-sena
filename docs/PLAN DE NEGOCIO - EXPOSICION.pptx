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MARTÍN (21 s). Presentamos el plan de negocio de EasyNotes v2, que es el mismo sistema que ya se venía trabajando, planteado ahora como empresa. Queremos mostrar que no queda en un ejercicio académico: es un negocio con mercado, precios, costos y proyección. Somos cinco: Martín, Sneyder, Yorman, Santiago y Andrés.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MARTÍN (39 s). Antes de la solución, el problema. Estos seis puntos salen del análisis de causa y efecto que el equipo realizó sobre el sistema real. Las matrículas y las notas se registran en libros y planillas; el flujo de matrícula tiene demasiados pasos; las reglas de recuperación y habilitación son difíciles de aplicar a mano; y no existe recordatorio automático de las pensiones. El resultado son errores de cálculo, pérdida de información y una carga de trabajo que consume las horas de un auxiliar administrativo. Eso vamos a resolver.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MARTÍN (39 s). Nuestra propuesta no es un módulo nuevo, es integrar. Hoy el académico y el contable están separados y esas dos bases de datos nunca se hablan. Nosotros las unimos: el colegio compra un solo sistema. Detrás hay cuatro roles con permisos diferenciados, así que cada persona ve solo lo que le corresponde, y bitácora de auditoría de quién hizo cada cambio y cuándo. Eso responde al problema de trazabilidad. Y todo es código abierto, así que no pagamos licencias, y eso es lo que permite el precio bajo.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MARTÍN (28 s). El objetivo general es la versión de una frase de lo que queremos lograr en un año. Los específicos están agrupados por las cuatro dimensiones que pide la plantilla, más el social. De los específicos, fíjense en dos: 20 colegios suscritos y la utilidad. Esos son los números que validas al final. El resto son las condiciones para poder llegar a esos dos.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YORMAN (44 s). El mercado objetivo lo definimos por tamaño, no por departamento: colegios de 200 a 1.500 estudiantes, de primaria a media, una sola sede. Lo importante es la última columna, la necesidad central de cada quien. Al rector lo que le asusta es que el sistema falle a mitad del período y se pierdan datos. Eso define cómo vendemos: primero garantizamos que no se pierde nada, después hablamos de precio. Y dejamos fuera segmentos a propósito: menos de 200 estudiantes no cubre el costo, y los muy grandes exigen licitaciones que el equipo no puede cumplir en el primer año.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YORMAN (51 s). Estos son los cuatro modelos que evaluamos. El primero es al que realmente vamos a desplazar: el sistema propio de cada colegio. Ya está integrado y no hay que migrar, ese es su fuerte, pero para cambiar una sola cosa necesita un programador. El segundo es el rival de precio, Google gratis, que no sabe qué es una recuperación ni una promoción: las notas quedan en celdas sin validar. Nosotros cobramos entre 12 y 48 veces más, pero entregamos la lógica escolar completa. Y el cuarto no es una empresa, pero es la decisión real de la mayoría: seguir como estamos. A ese se le gana con trazabilidad y ahorro de tiempo, no con precio.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ANDRÉS (1m 19s). La ficha técnica, pero quiero destacar cuatro cosas. Primera: la interfaz es responsiva, así que el docente y el apoderado la usan bien desde el celular, sin que tengamos que desarrollar una aplicación aparte. Segunda: el soporte tiene un compromiso concreto, cuatro horas hábiles de respuesta. Si un docente no puede sacar notas el día de corte, el problema es grave, y la garantía es de seis meses. Tercera: no pagamos licencias de software, React, Node.js, Express y MongoDB son de código abierto, así que el costo depende del servicio que damos y no del volumen de usuarios. Y cuarta: no es una caja negra, entregamos manual de uso por rol y videos tutoriales, y funciona en Chrome, Edge y Firefox, en Windows, macOS y Linux. Y la pantalla no es la misma para todos: hay cuatro paneles de inicio, uno por rol. El docente ve sus grupos y sus pendientes de calificación, el administrador ve matrículas, pagos e indicadores, el estudiante ve sus notas y sus ausencias, y el acudiente ve el rendimiento de sus hijos.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MARTÍN (45 s). Tres planes por tamaño de colegio. Y noten que no cobramos por estudiante, que es como cobra casi todo el mercado. Es deliberado: si cobramos por estudiante, la factura le crece al colegio cada vez que entra un alumno nuevo. Un precio fijo elimina esa fricción. La implementación son 3,5 millones, pago único y obligatorio, porque la migración de datos es lo más caro que hacemos. Si la metiéramos en la suscripción, el margen se nos deshace con los primeros tres clientes. Como referencia, atender un colegio nos cuesta 280 mil al año, así que cobramos entre cuatro y diecisiete veces eso.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SANTIAGO (1m 05s). Esta es la diapositiva que más importa. Todo el plan se construye sobre una sola unidad de venta: un colegio. Esta tabla es el Plan Básico, con 300 alumnos. El año 1 nos deja cuatro millones setecientos de mil, de los cuales solo doscientos ochenta mil son costo variable: quedan cuatro millones cuatrocientos veinte mil de contribución. Ahora miren las dos columnas. El ingreso cae de 4,7 millones a 1,2 millones porque la implementación se cobra una sola vez, y el margen se desploma de 4,4 a 920 mil. Eso es honestidad contable: casi tres cuartas partes del ingreso se concentran en el primer contrato: hay que cerrar colegios nuevos y retener. Y el precio: 333 pesos por alumno al mes, uno o dos meses del salario de un auxiliar, al que le liberamos entre 40 y 60 horas mensuales. Ese es el argumento de venta.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YORMAN (39 s). Tres canales. El digital lo justificamos porque más del 80 % de los directivos buscan en línea antes de agendar una cita, y porque permite medir el costo por visita. Pero el que cierra es el segundo: en software escolar no se compra por comparación técnica, se compra por confianza, y esa confianza se construye en persona con el rector y con la secretaría académica. Por eso casi la mitad de la mezcla son eventos y visitas. Son 15,7 millones, el 14 % de lo que proyectamos vender.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SANTIAGO (45 s). La proyección mes a mes del año 1. Dos servicios: la suscripción y la implementación, con un mes de desfase porque la migración se ejecuta después de firmar. El mes uno es cero, y es deliberado: el primer trimestre es de prueba. De abajo: 20 suscripciones dan 41 millones con la mezcla de planes, y 20 implementaciones dan 70 millones. Total, 111 millones, que son 20 veces la unidad de un colegio. Y es conservador: no incluye renovaciones del año 2, ni los colegios de Ecuador y Perú, ni módulos nuevos. Si salimos bien, esto es el piso, no el techo.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ANDRÉS (1m 15s). Este es el cronograma real, con las cinco fases del plan, sus meses y sus responsables: estabilización y deuda técnica, del mes 1 al 2; módulos con servicio listo y sin pantalla, del 2 al 4; reportes e impresión, del 3 al 5; documentación y entrega, del 5 al 6, que es de todo el equipo; y despliegue en producción, del 5 al 7. Después viene el piloto con dos colegios asociados, del mes 6 al 8, y la comercialización con soporte, del 6 al 12. Noten el orden, porque es una decisión: primero estabilizamos, después ampliamos, y no comercializamos antes de tener el producto estable. El mayor riesgo no es técnico, es que el colegio no adopte el sistema. Si vendemos antes de estar estables, el primer cliente nos desfalla y perdemos la referencia. Cada actividad tiene responsable asignado, así que no hay zona gris. Y el piloto es con colegios asociados, no con clientes nuevos: así validamos la migración con datos reales sin arriesgar la referencia comercial.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SNEYDER (56 s). Este es el proceso, de la visita comercial hasta la operación sostenida. Quiero señalar dos etapas. La 5, la migración: es la principal barrera de entrada y la primera causa de abandono del servicio. Si importamos mal los datos, con duplicados o campos incompletos, el colegio pierde confianza y se va. Por eso la validamos antes de darla por terminada. Y la 7, la puesta en marcha: activamos un período de prueba de treinta días con acompañamiento diario y validamos el primer ciclo completo de calificaciones y boletines. El colegio ve un ciclo académico completo antes de renovar, así que no paga hasta ver que funciona. Y la etapa 10 ya está pensada: la renovación se factura al terminar el año, con descuento por pronto pago.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SANTIAGO (1m 05s). Esta es la diapositiva que responde cómo sabemos que el negocio funciona. Cada colegio deja cinco millones doscientos setenta mil de margen. Contra ochenta y dos millones cuatrocientos treinta y cinco mil de costos fijos, el equilibrio cae en dieciséis colegios. En catorce estamos perdiendo ocho millones; en veinte, que es lo que proyectamos, ganamos veintitrés. Ahora la parte honesta: proyectamos veinte colegios, solo cuatro por encima del equilibrio, un margen de seguridad del veinte por ciento, y es estrecho. Si los veinte fueran del Plan Básico, la utilidad caería a seis millones. La mezcla de planes no es un supuesto optimista, es una condición. Y la cifra que más nos van a cuestionar es la nómina: cincuenta y cinco millones ochocientos mil, el sesenta y tres por ciento de todos los costos. Preferimos ser prudentes y no pintar el panorama más bonito de lo que 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SNEYDER (49 s). El DOFA, y quiero ser honesto con las debilidades. La más grande no es técnica: es que somos un producto joven, sin historial de clientes ni referencias verificables que presentar. Eso nos va a pesar al pedir la primera venta. La amenaza más seria tampoco es un competidor: es la resistencia al cambio de los directivos y la baja competencia digital del personal administrativo. Por eso el plan no comercializa hasta el mes seis: primero están la capacitación por rol, el manual, los tutoriales y el piloto con dos colegios. Y no somos ingenuos con el presupuesto institucional: la licencia de software es de los primeros gastos que se recortan.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SNEYDER (57 s). El impacto en los tres planos que pide la plantilla. Económico: los números que ya vimos, más el ahorro que genera el cliente: cuarenta a sesenta horas mensuales de trabajo administrativo por colegio, más de mil cien horas al año de un auxiliar, sin contratar a nadie más. Social: se centraliza y protege la información de cuatro mil estudiantes, con bitácora de quién hizo cada cambio, se reducen los errores de nota aplicando automáticamente las reglas del Ministerio, y el apoderado deja de pedirle el cuaderno al hijo. Ambiental: unos tres mil seiscientos pliegos menos al año por colegio, unas siete resmas, y el soporte por vía remota nos evita desplazamientos. Nada de esto es decorativo: es lo que justifica que el proyecto sea más que un software.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YORMAN (37 s). Para cerrar, la idea en una frase: este sistema ya existía, lo que hicimos fue demostrar que también puede ser un negocio. Hay mercado, hay números y hay margen, y el equilibrio está en 16 colegios, así que con la mitad de la meta de 20 ya estamos en números negros. Terminamos con lo que pedimos: autorización para arrancar el piloto con dos colegios, acompañamiento en las visitas comerciales, y que el instructor valide las cifras financieras, que como dijimos son estimaciones.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1965960"/>
            <a:ext cx="12191695" cy="13716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0"/>
          <a:lstStyle/>
          <a:p>
            <a:pPr algn="l">
              <a:spcBef>
                <a:spcPts val="0"/>
              </a:spcBef>
              <a:spcAft>
                <a:spcPts val="400"/>
              </a:spcAft>
            </a:pPr>
            <a:r>
              <a:rPr sz="4400" b="1" i="0">
                <a:solidFill>
                  <a:srgbClr val="FFFFFF"/>
                </a:solidFill>
                <a:latin typeface="Arial"/>
              </a:rPr>
              <a:t>EasyNotes v2</a:t>
            </a:r>
          </a:p>
          <a:p>
            <a:pPr algn="l">
              <a:spcBef>
                <a:spcPts val="0"/>
              </a:spcBef>
              <a:spcAft>
                <a:spcPts val="0"/>
              </a:spcAft>
            </a:pPr>
            <a:r>
              <a:rPr sz="1800" b="0" i="0">
                <a:solidFill>
                  <a:srgbClr val="FFFFFF"/>
                </a:solidFill>
                <a:latin typeface="Arial"/>
              </a:rPr>
              <a:t>Sistema web de gestión educativa como servicio por suscripción (SaaS)</a:t>
            </a:r>
          </a:p>
        </p:txBody>
      </p:sp>
      <p:sp>
        <p:nvSpPr>
          <p:cNvPr id="3" name="TextBox 2"/>
          <p:cNvSpPr txBox="1"/>
          <p:nvPr/>
        </p:nvSpPr>
        <p:spPr>
          <a:xfrm>
            <a:off x="548640" y="3611880"/>
            <a:ext cx="11064240" cy="2011680"/>
          </a:xfrm>
          <a:prstGeom prst="rect">
            <a:avLst/>
          </a:prstGeom>
          <a:noFill/>
        </p:spPr>
        <p:txBody>
          <a:bodyPr wrap="square" lIns="0" rIns="0">
            <a:spAutoFit/>
          </a:bodyPr>
          <a:lstStyle/>
          <a:p>
            <a:pPr algn="l">
              <a:spcBef>
                <a:spcPts val="0"/>
              </a:spcBef>
              <a:spcAft>
                <a:spcPts val="1400"/>
              </a:spcAft>
            </a:pPr>
            <a:r>
              <a:rPr sz="2000" b="1" i="0">
                <a:solidFill>
                  <a:srgbClr val="404040"/>
                </a:solidFill>
                <a:latin typeface="Arial"/>
              </a:rPr>
              <a:t>Plan de Negocio Básico 2026</a:t>
            </a:r>
          </a:p>
          <a:p>
            <a:pPr algn="l">
              <a:spcBef>
                <a:spcPts val="0"/>
              </a:spcBef>
              <a:spcAft>
                <a:spcPts val="0"/>
              </a:spcAft>
            </a:pPr>
            <a:r>
              <a:rPr sz="1400" b="0" i="0">
                <a:solidFill>
                  <a:srgbClr val="404040"/>
                </a:solidFill>
                <a:latin typeface="Arial"/>
              </a:rPr>
              <a:t>Aprendices:  Martín Zapata   |   Sneyder Gómez   |   Yorman Gómez   |   Santiago Sierra   |   Andrés Avila</a:t>
            </a:r>
          </a:p>
        </p:txBody>
      </p:sp>
      <p:sp>
        <p:nvSpPr>
          <p:cNvPr id="4" name="TextBox 3"/>
          <p:cNvSpPr txBox="1"/>
          <p:nvPr/>
        </p:nvSpPr>
        <p:spPr>
          <a:xfrm>
            <a:off x="411480" y="6355080"/>
            <a:ext cx="11384280" cy="320040"/>
          </a:xfrm>
          <a:prstGeom prst="rect">
            <a:avLst/>
          </a:prstGeom>
          <a:noFill/>
        </p:spPr>
        <p:txBody>
          <a:bodyPr wrap="square" lIns="0" rIns="0">
            <a:spAutoFit/>
          </a:bodyPr>
          <a:lstStyle/>
          <a:p>
            <a:pPr algn="l">
              <a:spcBef>
                <a:spcPts val="0"/>
              </a:spcBef>
              <a:spcAft>
                <a:spcPts val="0"/>
              </a:spcAft>
            </a:pPr>
            <a:r>
              <a:rPr sz="1000" b="0" i="0">
                <a:solidFill>
                  <a:srgbClr val="7F7F7F"/>
                </a:solidFill>
                <a:latin typeface="Arial"/>
              </a:rPr>
              <a:t>Documento desarrollado a partir de la plantilla del SENA · la economía se presenta colegio por colegio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1.3  JUSTIFICACIÓN</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A qué responde el proyecto</a:t>
            </a:r>
          </a:p>
        </p:txBody>
      </p:sp>
      <p:sp>
        <p:nvSpPr>
          <p:cNvPr id="4" name="TextBox 3"/>
          <p:cNvSpPr txBox="1"/>
          <p:nvPr/>
        </p:nvSpPr>
        <p:spPr>
          <a:xfrm>
            <a:off x="411480" y="1600200"/>
            <a:ext cx="5760720" cy="4206240"/>
          </a:xfrm>
          <a:prstGeom prst="rect">
            <a:avLst/>
          </a:prstGeom>
          <a:noFill/>
        </p:spPr>
        <p:txBody>
          <a:bodyPr wrap="square" lIns="0" rIns="0">
            <a:spAutoFit/>
          </a:bodyPr>
          <a:lstStyle/>
          <a:p>
            <a:pPr algn="l">
              <a:spcBef>
                <a:spcPts val="0"/>
              </a:spcBef>
              <a:spcAft>
                <a:spcPts val="1000"/>
              </a:spcAft>
            </a:pPr>
            <a:r>
              <a:rPr sz="1700" b="0" i="0">
                <a:solidFill>
                  <a:srgbClr val="404040"/>
                </a:solidFill>
                <a:latin typeface="Arial"/>
              </a:rPr>
              <a:t>•  Registro de matrículas y notas en libros y planillas</a:t>
            </a:r>
          </a:p>
          <a:p>
            <a:pPr algn="l">
              <a:spcBef>
                <a:spcPts val="0"/>
              </a:spcBef>
              <a:spcAft>
                <a:spcPts val="1000"/>
              </a:spcAft>
            </a:pPr>
            <a:r>
              <a:rPr sz="1700" b="0" i="0">
                <a:solidFill>
                  <a:srgbClr val="404040"/>
                </a:solidFill>
                <a:latin typeface="Arial"/>
              </a:rPr>
              <a:t>•  El flujo de matrícula tiene demasiados pasos</a:t>
            </a:r>
          </a:p>
          <a:p>
            <a:pPr algn="l">
              <a:spcBef>
                <a:spcPts val="0"/>
              </a:spcBef>
              <a:spcAft>
                <a:spcPts val="1000"/>
              </a:spcAft>
            </a:pPr>
            <a:r>
              <a:rPr sz="1700" b="0" i="0">
                <a:solidFill>
                  <a:srgbClr val="404040"/>
                </a:solidFill>
                <a:latin typeface="Arial"/>
              </a:rPr>
              <a:t>•  Recuperación y habilitación difíciles de aplicar a mano</a:t>
            </a:r>
          </a:p>
          <a:p>
            <a:pPr algn="l">
              <a:spcBef>
                <a:spcPts val="0"/>
              </a:spcBef>
              <a:spcAft>
                <a:spcPts val="1000"/>
              </a:spcAft>
            </a:pPr>
            <a:r>
              <a:rPr sz="1700" b="0" i="0">
                <a:solidFill>
                  <a:srgbClr val="404040"/>
                </a:solidFill>
                <a:latin typeface="Arial"/>
              </a:rPr>
              <a:t>•  No existe recordatorio automático de las pensiones</a:t>
            </a:r>
          </a:p>
          <a:p>
            <a:pPr algn="l">
              <a:spcBef>
                <a:spcPts val="0"/>
              </a:spcBef>
              <a:spcAft>
                <a:spcPts val="1000"/>
              </a:spcAft>
            </a:pPr>
            <a:r>
              <a:rPr sz="1700" b="0" i="0">
                <a:solidFill>
                  <a:srgbClr val="404040"/>
                </a:solidFill>
                <a:latin typeface="Arial"/>
              </a:rPr>
              <a:t>•  Errores de cálculo y pérdida de información</a:t>
            </a:r>
          </a:p>
          <a:p>
            <a:pPr algn="l">
              <a:spcBef>
                <a:spcPts val="0"/>
              </a:spcBef>
              <a:spcAft>
                <a:spcPts val="1000"/>
              </a:spcAft>
            </a:pPr>
            <a:r>
              <a:rPr sz="1700" b="0" i="0">
                <a:solidFill>
                  <a:srgbClr val="404040"/>
                </a:solidFill>
                <a:latin typeface="Arial"/>
              </a:rPr>
              <a:t>•  Una carga de trabajo que consume las horas de un auxiliar administrativo</a:t>
            </a:r>
          </a:p>
        </p:txBody>
      </p:sp>
      <p:sp>
        <p:nvSpPr>
          <p:cNvPr id="5" name="Rectangle 4"/>
          <p:cNvSpPr/>
          <p:nvPr/>
        </p:nvSpPr>
        <p:spPr>
          <a:xfrm>
            <a:off x="6537960" y="1600200"/>
            <a:ext cx="5212080" cy="2788920"/>
          </a:xfrm>
          <a:prstGeom prst="rect">
            <a:avLst/>
          </a:prstGeom>
          <a:solidFill>
            <a:srgbClr val="F7F9FB"/>
          </a:solidFill>
          <a:ln w="15875">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B03030"/>
                </a:solidFill>
                <a:latin typeface="Arial"/>
              </a:rPr>
              <a:t>EL RESULTADO</a:t>
            </a:r>
          </a:p>
          <a:p>
            <a:pPr algn="l">
              <a:spcBef>
                <a:spcPts val="0"/>
              </a:spcBef>
              <a:spcAft>
                <a:spcPts val="600"/>
              </a:spcAft>
            </a:pPr>
            <a:r>
              <a:rPr sz="1400" b="0" i="0">
                <a:solidFill>
                  <a:srgbClr val="404040"/>
                </a:solidFill>
                <a:latin typeface="Arial"/>
              </a:rPr>
              <a:t>Errores de nota que hay que corregir, reclamos que no se puede responder y pérdida de información. La institución no lo percibe, porque el costo cae en las horas de un auxiliar administrativo.</a:t>
            </a:r>
          </a:p>
        </p:txBody>
      </p:sp>
      <p:sp>
        <p:nvSpPr>
          <p:cNvPr id="6" name="TextBox 5"/>
          <p:cNvSpPr txBox="1"/>
          <p:nvPr/>
        </p:nvSpPr>
        <p:spPr>
          <a:xfrm>
            <a:off x="6537960" y="4617720"/>
            <a:ext cx="5212080" cy="1371600"/>
          </a:xfrm>
          <a:prstGeom prst="rect">
            <a:avLst/>
          </a:prstGeom>
          <a:noFill/>
        </p:spPr>
        <p:txBody>
          <a:bodyPr wrap="square" lIns="0" rIns="0">
            <a:spAutoFit/>
          </a:bodyPr>
          <a:lstStyle/>
          <a:p>
            <a:pPr algn="l">
              <a:spcBef>
                <a:spcPts val="0"/>
              </a:spcBef>
              <a:spcAft>
                <a:spcPts val="600"/>
              </a:spcAft>
            </a:pPr>
            <a:r>
              <a:rPr sz="1300" b="0" i="0">
                <a:solidFill>
                  <a:srgbClr val="7F7F7F"/>
                </a:solidFill>
                <a:latin typeface="Arial"/>
              </a:rPr>
              <a:t>No es un supuesto: es el análisis de causa y efecto (diagrama de Ishikawa) que el equipo realizó sobre el sistema real.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1.1  DESCRIPCIÓN DEL PROYECTO</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La solución: una plataforma, dos componentes que hoy están separados</a:t>
            </a:r>
          </a:p>
        </p:txBody>
      </p:sp>
      <p:sp>
        <p:nvSpPr>
          <p:cNvPr id="4" name="TextBox 3"/>
          <p:cNvSpPr txBox="1"/>
          <p:nvPr/>
        </p:nvSpPr>
        <p:spPr>
          <a:xfrm>
            <a:off x="411480" y="1554480"/>
            <a:ext cx="11384280" cy="685800"/>
          </a:xfrm>
          <a:prstGeom prst="rect">
            <a:avLst/>
          </a:prstGeom>
          <a:noFill/>
        </p:spPr>
        <p:txBody>
          <a:bodyPr wrap="square" lIns="0" rIns="0">
            <a:spAutoFit/>
          </a:bodyPr>
          <a:lstStyle/>
          <a:p>
            <a:pPr algn="l">
              <a:spcBef>
                <a:spcPts val="0"/>
              </a:spcBef>
              <a:spcAft>
                <a:spcPts val="600"/>
              </a:spcAft>
            </a:pPr>
            <a:r>
              <a:rPr sz="1700" b="0" i="0">
                <a:solidFill>
                  <a:srgbClr val="404040"/>
                </a:solidFill>
                <a:latin typeface="Arial"/>
              </a:rPr>
              <a:t>EasyNotes v2 integra en una sola licencia el componente académico y el contable, que normalmente viven en sistemas separados.</a:t>
            </a:r>
          </a:p>
        </p:txBody>
      </p:sp>
      <p:graphicFrame>
        <p:nvGraphicFramePr>
          <p:cNvPr id="5" name="Table 4"/>
          <p:cNvGraphicFramePr>
            <a:graphicFrameLocks noGrp="1"/>
          </p:cNvGraphicFramePr>
          <p:nvPr/>
        </p:nvGraphicFramePr>
        <p:xfrm>
          <a:off x="411480" y="2331720"/>
          <a:ext cx="5577840" cy="1426464"/>
        </p:xfrm>
        <a:graphic>
          <a:graphicData uri="http://schemas.openxmlformats.org/drawingml/2006/table">
            <a:tbl>
              <a:tblPr firstRow="1" bandRow="1">
                <a:tableStyleId>{5C22544A-7EE6-4342-B048-85BDC9FD1C3A}</a:tableStyleId>
              </a:tblPr>
              <a:tblGrid>
                <a:gridCol w="5577840"/>
              </a:tblGrid>
              <a:tr h="329184">
                <a:tc>
                  <a:txBody>
                    <a:bodyPr wrap="square"/>
                    <a:lstStyle/>
                    <a:p>
                      <a:pPr algn="l"/>
                      <a:r>
                        <a:rPr sz="1300" b="1">
                          <a:solidFill>
                            <a:srgbClr val="FFFFFF"/>
                          </a:solidFill>
                          <a:latin typeface="Arial"/>
                        </a:rPr>
                        <a:t>Componente ACADÉMICO</a:t>
                      </a:r>
                    </a:p>
                  </a:txBody>
                  <a:tcPr marL="54864" marR="54864" marT="18288" marB="18288" anchor="ctr">
                    <a:solidFill>
                      <a:srgbClr val="1F4E79"/>
                    </a:solidFill>
                  </a:tcPr>
                </a:tc>
              </a:tr>
              <a:tr h="274320">
                <a:tc>
                  <a:txBody>
                    <a:bodyPr wrap="square"/>
                    <a:lstStyle/>
                    <a:p>
                      <a:pPr algn="l"/>
                      <a:r>
                        <a:rPr sz="1300" b="0">
                          <a:solidFill>
                            <a:srgbClr val="404040"/>
                          </a:solidFill>
                          <a:latin typeface="Arial"/>
                        </a:rPr>
                        <a:t>Matrícula, calificaciones y asistencia</a:t>
                      </a:r>
                    </a:p>
                  </a:txBody>
                  <a:tcPr marL="54864" marR="54864" marT="18288" marB="18288" anchor="ctr">
                    <a:solidFill>
                      <a:srgbClr val="FFFFFF"/>
                    </a:solidFill>
                  </a:tcPr>
                </a:tc>
              </a:tr>
              <a:tr h="274320">
                <a:tc>
                  <a:txBody>
                    <a:bodyPr wrap="square"/>
                    <a:lstStyle/>
                    <a:p>
                      <a:pPr algn="l"/>
                      <a:r>
                        <a:rPr sz="1300" b="0">
                          <a:solidFill>
                            <a:srgbClr val="404040"/>
                          </a:solidFill>
                          <a:latin typeface="Arial"/>
                        </a:rPr>
                        <a:t>Recuperaciones y habilitaciones</a:t>
                      </a:r>
                    </a:p>
                  </a:txBody>
                  <a:tcPr marL="54864" marR="54864" marT="18288" marB="18288" anchor="ctr">
                    <a:solidFill>
                      <a:srgbClr val="F7F9FB"/>
                    </a:solidFill>
                  </a:tcPr>
                </a:tc>
              </a:tr>
              <a:tr h="274320">
                <a:tc>
                  <a:txBody>
                    <a:bodyPr wrap="square"/>
                    <a:lstStyle/>
                    <a:p>
                      <a:pPr algn="l"/>
                      <a:r>
                        <a:rPr sz="1300" b="0">
                          <a:solidFill>
                            <a:srgbClr val="404040"/>
                          </a:solidFill>
                          <a:latin typeface="Arial"/>
                        </a:rPr>
                        <a:t>Observador, promoción y certificados</a:t>
                      </a:r>
                    </a:p>
                  </a:txBody>
                  <a:tcPr marL="54864" marR="54864" marT="18288" marB="18288" anchor="ctr">
                    <a:solidFill>
                      <a:srgbClr val="FFFFFF"/>
                    </a:solidFill>
                  </a:tcPr>
                </a:tc>
              </a:tr>
              <a:tr h="274320">
                <a:tc>
                  <a:txBody>
                    <a:bodyPr wrap="square"/>
                    <a:lstStyle/>
                    <a:p>
                      <a:pPr algn="l"/>
                      <a:r>
                        <a:rPr sz="1300" b="0">
                          <a:solidFill>
                            <a:srgbClr val="404040"/>
                          </a:solidFill>
                          <a:latin typeface="Arial"/>
                        </a:rPr>
                        <a:t>Boletines y reportes en PDF</a:t>
                      </a:r>
                    </a:p>
                  </a:txBody>
                  <a:tcPr marL="54864" marR="54864" marT="18288" marB="18288" anchor="ctr">
                    <a:solidFill>
                      <a:srgbClr val="F7F9FB"/>
                    </a:solidFill>
                  </a:tcPr>
                </a:tc>
              </a:tr>
            </a:tbl>
          </a:graphicData>
        </a:graphic>
      </p:graphicFrame>
      <p:graphicFrame>
        <p:nvGraphicFramePr>
          <p:cNvPr id="6" name="Table 5"/>
          <p:cNvGraphicFramePr>
            <a:graphicFrameLocks noGrp="1"/>
          </p:cNvGraphicFramePr>
          <p:nvPr/>
        </p:nvGraphicFramePr>
        <p:xfrm>
          <a:off x="6309360" y="2331720"/>
          <a:ext cx="5486400" cy="1426464"/>
        </p:xfrm>
        <a:graphic>
          <a:graphicData uri="http://schemas.openxmlformats.org/drawingml/2006/table">
            <a:tbl>
              <a:tblPr firstRow="1" bandRow="1">
                <a:tableStyleId>{5C22544A-7EE6-4342-B048-85BDC9FD1C3A}</a:tableStyleId>
              </a:tblPr>
              <a:tblGrid>
                <a:gridCol w="5486400"/>
              </a:tblGrid>
              <a:tr h="329184">
                <a:tc>
                  <a:txBody>
                    <a:bodyPr wrap="square"/>
                    <a:lstStyle/>
                    <a:p>
                      <a:pPr algn="l"/>
                      <a:r>
                        <a:rPr sz="1300" b="1">
                          <a:solidFill>
                            <a:srgbClr val="FFFFFF"/>
                          </a:solidFill>
                          <a:latin typeface="Arial"/>
                        </a:rPr>
                        <a:t>Componente CONTABLE y ADMINISTRATIVO</a:t>
                      </a:r>
                    </a:p>
                  </a:txBody>
                  <a:tcPr marL="54864" marR="54864" marT="18288" marB="18288" anchor="ctr">
                    <a:solidFill>
                      <a:srgbClr val="1F4E79"/>
                    </a:solidFill>
                  </a:tcPr>
                </a:tc>
              </a:tr>
              <a:tr h="274320">
                <a:tc>
                  <a:txBody>
                    <a:bodyPr wrap="square"/>
                    <a:lstStyle/>
                    <a:p>
                      <a:pPr algn="l"/>
                      <a:r>
                        <a:rPr sz="1300" b="0">
                          <a:solidFill>
                            <a:srgbClr val="404040"/>
                          </a:solidFill>
                          <a:latin typeface="Arial"/>
                        </a:rPr>
                        <a:t>Matrículas y cartera</a:t>
                      </a:r>
                    </a:p>
                  </a:txBody>
                  <a:tcPr marL="54864" marR="54864" marT="18288" marB="18288" anchor="ctr">
                    <a:solidFill>
                      <a:srgbClr val="FFFFFF"/>
                    </a:solidFill>
                  </a:tcPr>
                </a:tc>
              </a:tr>
              <a:tr h="274320">
                <a:tc>
                  <a:txBody>
                    <a:bodyPr wrap="square"/>
                    <a:lstStyle/>
                    <a:p>
                      <a:pPr algn="l"/>
                      <a:r>
                        <a:rPr sz="1300" b="0">
                          <a:solidFill>
                            <a:srgbClr val="404040"/>
                          </a:solidFill>
                          <a:latin typeface="Arial"/>
                        </a:rPr>
                        <a:t>Pensiones</a:t>
                      </a:r>
                    </a:p>
                  </a:txBody>
                  <a:tcPr marL="54864" marR="54864" marT="18288" marB="18288" anchor="ctr">
                    <a:solidFill>
                      <a:srgbClr val="F7F9FB"/>
                    </a:solidFill>
                  </a:tcPr>
                </a:tc>
              </a:tr>
              <a:tr h="274320">
                <a:tc>
                  <a:txBody>
                    <a:bodyPr wrap="square"/>
                    <a:lstStyle/>
                    <a:p>
                      <a:pPr algn="l"/>
                      <a:r>
                        <a:rPr sz="1300" b="0">
                          <a:solidFill>
                            <a:srgbClr val="404040"/>
                          </a:solidFill>
                          <a:latin typeface="Arial"/>
                        </a:rPr>
                        <a:t>Recordatorios de pago</a:t>
                      </a:r>
                    </a:p>
                  </a:txBody>
                  <a:tcPr marL="54864" marR="54864" marT="18288" marB="18288" anchor="ctr">
                    <a:solidFill>
                      <a:srgbClr val="FFFFFF"/>
                    </a:solidFill>
                  </a:tcPr>
                </a:tc>
              </a:tr>
              <a:tr h="274320">
                <a:tc>
                  <a:txBody>
                    <a:bodyPr wrap="square"/>
                    <a:lstStyle/>
                    <a:p>
                      <a:pPr algn="l"/>
                      <a:r>
                        <a:rPr sz="1300" b="0">
                          <a:solidFill>
                            <a:srgbClr val="404040"/>
                          </a:solidFill>
                          <a:latin typeface="Arial"/>
                        </a:rPr>
                        <a:t>Comunicados con apoderados</a:t>
                      </a:r>
                    </a:p>
                  </a:txBody>
                  <a:tcPr marL="54864" marR="54864" marT="18288" marB="18288" anchor="ctr">
                    <a:solidFill>
                      <a:srgbClr val="F7F9FB"/>
                    </a:solidFill>
                  </a:tcPr>
                </a:tc>
              </a:tr>
            </a:tbl>
          </a:graphicData>
        </a:graphic>
      </p:graphicFrame>
      <p:sp>
        <p:nvSpPr>
          <p:cNvPr id="7" name="TextBox 6"/>
          <p:cNvSpPr txBox="1"/>
          <p:nvPr/>
        </p:nvSpPr>
        <p:spPr>
          <a:xfrm>
            <a:off x="411480" y="4114800"/>
            <a:ext cx="11384280" cy="1005840"/>
          </a:xfrm>
          <a:prstGeom prst="rect">
            <a:avLst/>
          </a:prstGeom>
          <a:noFill/>
        </p:spPr>
        <p:txBody>
          <a:bodyPr wrap="square" lIns="0" rIns="0">
            <a:spAutoFit/>
          </a:bodyPr>
          <a:lstStyle/>
          <a:p>
            <a:pPr algn="l">
              <a:spcBef>
                <a:spcPts val="0"/>
              </a:spcBef>
              <a:spcAft>
                <a:spcPts val="400"/>
              </a:spcAft>
            </a:pPr>
            <a:r>
              <a:rPr sz="1500" b="1" i="0">
                <a:solidFill>
                  <a:srgbClr val="1F4E79"/>
                </a:solidFill>
                <a:latin typeface="Arial"/>
              </a:rPr>
              <a:t>Cuatro roles con permisos diferenciados</a:t>
            </a:r>
          </a:p>
          <a:p>
            <a:pPr algn="l">
              <a:spcBef>
                <a:spcPts val="0"/>
              </a:spcBef>
              <a:spcAft>
                <a:spcPts val="0"/>
              </a:spcAft>
            </a:pPr>
            <a:r>
              <a:rPr sz="1500" b="0" i="0">
                <a:solidFill>
                  <a:srgbClr val="404040"/>
                </a:solidFill>
                <a:latin typeface="Arial"/>
              </a:rPr>
              <a:t>Administrador  ·  Docente  ·  Estudiante  ·  Acudiente      |      Bitácora de auditoría: usuario, fecha y hora de cada cambio</a:t>
            </a:r>
          </a:p>
        </p:txBody>
      </p:sp>
      <p:sp>
        <p:nvSpPr>
          <p:cNvPr id="8" name="TextBox 7"/>
          <p:cNvSpPr txBox="1"/>
          <p:nvPr/>
        </p:nvSpPr>
        <p:spPr>
          <a:xfrm>
            <a:off x="411480" y="6355080"/>
            <a:ext cx="11384280" cy="320040"/>
          </a:xfrm>
          <a:prstGeom prst="rect">
            <a:avLst/>
          </a:prstGeom>
          <a:noFill/>
        </p:spPr>
        <p:txBody>
          <a:bodyPr wrap="square" lIns="0" rIns="0">
            <a:spAutoFit/>
          </a:bodyPr>
          <a:lstStyle/>
          <a:p>
            <a:pPr algn="l">
              <a:spcBef>
                <a:spcPts val="0"/>
              </a:spcBef>
              <a:spcAft>
                <a:spcPts val="0"/>
              </a:spcAft>
            </a:pPr>
            <a:r>
              <a:rPr sz="1000" b="0" i="0">
                <a:solidFill>
                  <a:srgbClr val="7F7F7F"/>
                </a:solidFill>
                <a:latin typeface="Arial"/>
              </a:rPr>
              <a:t>React + Vite + Material UI  ·  Node.js + Express  ·  MongoDB  ·  código abierto, sin licencias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1.2  DEFINICIÓN DE OBJETIVOS</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Objetivos</a:t>
            </a:r>
          </a:p>
        </p:txBody>
      </p:sp>
      <p:sp>
        <p:nvSpPr>
          <p:cNvPr id="4" name="Rectangle 3"/>
          <p:cNvSpPr/>
          <p:nvPr/>
        </p:nvSpPr>
        <p:spPr>
          <a:xfrm>
            <a:off x="411480" y="1508760"/>
            <a:ext cx="11384280" cy="1051560"/>
          </a:xfrm>
          <a:prstGeom prst="rect">
            <a:avLst/>
          </a:prstGeom>
          <a:solidFill>
            <a:srgbClr val="F7F9FB"/>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1F4E79"/>
                </a:solidFill>
                <a:latin typeface="Arial"/>
              </a:rPr>
              <a:t>OBJETIVO GENERAL</a:t>
            </a:r>
          </a:p>
          <a:p>
            <a:pPr algn="l">
              <a:spcBef>
                <a:spcPts val="0"/>
              </a:spcBef>
              <a:spcAft>
                <a:spcPts val="600"/>
              </a:spcAft>
            </a:pPr>
            <a:r>
              <a:rPr sz="1400" b="0" i="0">
                <a:solidFill>
                  <a:srgbClr val="404040"/>
                </a:solidFill>
                <a:latin typeface="Arial"/>
              </a:rPr>
              <a:t>Consolidar EasyNotes v2 como un servicio web de suscripción de gestión académica, administrativa y contable para instituciones educativas de Colombia, como reemplazo verificable de los registros en libros y planillas.</a:t>
            </a:r>
          </a:p>
        </p:txBody>
      </p:sp>
      <p:sp>
        <p:nvSpPr>
          <p:cNvPr id="5" name="TextBox 4"/>
          <p:cNvSpPr txBox="1"/>
          <p:nvPr/>
        </p:nvSpPr>
        <p:spPr>
          <a:xfrm>
            <a:off x="411480" y="2743200"/>
            <a:ext cx="11384280" cy="320040"/>
          </a:xfrm>
          <a:prstGeom prst="rect">
            <a:avLst/>
          </a:prstGeom>
          <a:noFill/>
        </p:spPr>
        <p:txBody>
          <a:bodyPr wrap="square" lIns="0" rIns="0">
            <a:spAutoFit/>
          </a:bodyPr>
          <a:lstStyle/>
          <a:p>
            <a:pPr algn="l">
              <a:spcBef>
                <a:spcPts val="0"/>
              </a:spcBef>
              <a:spcAft>
                <a:spcPts val="600"/>
              </a:spcAft>
            </a:pPr>
            <a:r>
              <a:rPr sz="1300" b="1" i="0">
                <a:solidFill>
                  <a:srgbClr val="1F4E79"/>
                </a:solidFill>
                <a:latin typeface="Arial"/>
              </a:rPr>
              <a:t>OBJETIVOS ESPECÍFICOS</a:t>
            </a:r>
          </a:p>
        </p:txBody>
      </p:sp>
      <p:graphicFrame>
        <p:nvGraphicFramePr>
          <p:cNvPr id="6" name="Table 5"/>
          <p:cNvGraphicFramePr>
            <a:graphicFrameLocks noGrp="1"/>
          </p:cNvGraphicFramePr>
          <p:nvPr/>
        </p:nvGraphicFramePr>
        <p:xfrm>
          <a:off x="411480" y="3127248"/>
          <a:ext cx="11384280" cy="2432304"/>
        </p:xfrm>
        <a:graphic>
          <a:graphicData uri="http://schemas.openxmlformats.org/drawingml/2006/table">
            <a:tbl>
              <a:tblPr firstRow="1" bandRow="1">
                <a:tableStyleId>{5C22544A-7EE6-4342-B048-85BDC9FD1C3A}</a:tableStyleId>
              </a:tblPr>
              <a:tblGrid>
                <a:gridCol w="1897380"/>
                <a:gridCol w="9486900"/>
              </a:tblGrid>
              <a:tr h="530352">
                <a:tc>
                  <a:txBody>
                    <a:bodyPr wrap="square"/>
                    <a:lstStyle/>
                    <a:p>
                      <a:pPr algn="l"/>
                      <a:r>
                        <a:rPr sz="1300" b="1">
                          <a:solidFill>
                            <a:srgbClr val="1F4E79"/>
                          </a:solidFill>
                          <a:latin typeface="Arial"/>
                        </a:rPr>
                        <a:t>Mercado</a:t>
                      </a:r>
                    </a:p>
                  </a:txBody>
                  <a:tcPr marL="54864" marR="54864" marT="18288" marB="18288" anchor="ctr">
                    <a:solidFill>
                      <a:srgbClr val="F7F9FB"/>
                    </a:solidFill>
                  </a:tcPr>
                </a:tc>
                <a:tc>
                  <a:txBody>
                    <a:bodyPr wrap="square"/>
                    <a:lstStyle/>
                    <a:p>
                      <a:pPr algn="l"/>
                      <a:r>
                        <a:rPr sz="1300" b="0">
                          <a:solidFill>
                            <a:srgbClr val="404040"/>
                          </a:solidFill>
                          <a:latin typeface="Arial"/>
                        </a:rPr>
                        <a:t>Analizar el sector, definir precios por tamaño de institución y alcanzar 20 colegios suscritos en el año 1</a:t>
                      </a:r>
                    </a:p>
                  </a:txBody>
                  <a:tcPr marL="54864" marR="54864" marT="18288" marB="18288" anchor="ctr">
                    <a:solidFill>
                      <a:srgbClr val="F7F9FB"/>
                    </a:solidFill>
                  </a:tcPr>
                </a:tc>
              </a:tr>
              <a:tr h="475488">
                <a:tc>
                  <a:txBody>
                    <a:bodyPr wrap="square"/>
                    <a:lstStyle/>
                    <a:p>
                      <a:pPr algn="l"/>
                      <a:r>
                        <a:rPr sz="1300" b="1">
                          <a:solidFill>
                            <a:srgbClr val="1F4E79"/>
                          </a:solidFill>
                          <a:latin typeface="Arial"/>
                        </a:rPr>
                        <a:t>Técnico</a:t>
                      </a:r>
                    </a:p>
                  </a:txBody>
                  <a:tcPr marL="54864" marR="54864" marT="18288" marB="18288" anchor="ctr">
                    <a:solidFill>
                      <a:srgbClr val="FFFFFF"/>
                    </a:solidFill>
                  </a:tcPr>
                </a:tc>
                <a:tc>
                  <a:txBody>
                    <a:bodyPr wrap="square"/>
                    <a:lstStyle/>
                    <a:p>
                      <a:pPr algn="l"/>
                      <a:r>
                        <a:rPr sz="1300" b="0">
                          <a:solidFill>
                            <a:srgbClr val="404040"/>
                          </a:solidFill>
                          <a:latin typeface="Arial"/>
                        </a:rPr>
                        <a:t>Estabilizar la plataforma, completar Observador y Elecciones, la importación masiva desde Excel y el despliegue en producción</a:t>
                      </a:r>
                    </a:p>
                  </a:txBody>
                  <a:tcPr marL="54864" marR="54864" marT="18288" marB="18288" anchor="ctr">
                    <a:solidFill>
                      <a:srgbClr val="FFFFFF"/>
                    </a:solidFill>
                  </a:tcPr>
                </a:tc>
              </a:tr>
              <a:tr h="475488">
                <a:tc>
                  <a:txBody>
                    <a:bodyPr wrap="square"/>
                    <a:lstStyle/>
                    <a:p>
                      <a:pPr algn="l"/>
                      <a:r>
                        <a:rPr sz="1300" b="1">
                          <a:solidFill>
                            <a:srgbClr val="1F4E79"/>
                          </a:solidFill>
                          <a:latin typeface="Arial"/>
                        </a:rPr>
                        <a:t>Organizacional</a:t>
                      </a:r>
                    </a:p>
                  </a:txBody>
                  <a:tcPr marL="54864" marR="54864" marT="18288" marB="18288" anchor="ctr">
                    <a:solidFill>
                      <a:srgbClr val="F7F9FB"/>
                    </a:solidFill>
                  </a:tcPr>
                </a:tc>
                <a:tc>
                  <a:txBody>
                    <a:bodyPr wrap="square"/>
                    <a:lstStyle/>
                    <a:p>
                      <a:pPr algn="l"/>
                      <a:r>
                        <a:rPr sz="1300" b="0">
                          <a:solidFill>
                            <a:srgbClr val="404040"/>
                          </a:solidFill>
                          <a:latin typeface="Arial"/>
                        </a:rPr>
                        <a:t>Definir cargos y funciones por área, y reducir la carga de soporte con manual y tutoriales</a:t>
                      </a:r>
                    </a:p>
                  </a:txBody>
                  <a:tcPr marL="54864" marR="54864" marT="18288" marB="18288" anchor="ctr">
                    <a:solidFill>
                      <a:srgbClr val="F7F9FB"/>
                    </a:solidFill>
                  </a:tcPr>
                </a:tc>
              </a:tr>
              <a:tr h="475488">
                <a:tc>
                  <a:txBody>
                    <a:bodyPr wrap="square"/>
                    <a:lstStyle/>
                    <a:p>
                      <a:pPr algn="l"/>
                      <a:r>
                        <a:rPr sz="1300" b="1">
                          <a:solidFill>
                            <a:srgbClr val="1F4E79"/>
                          </a:solidFill>
                          <a:latin typeface="Arial"/>
                        </a:rPr>
                        <a:t>Financiero</a:t>
                      </a:r>
                    </a:p>
                  </a:txBody>
                  <a:tcPr marL="54864" marR="54864" marT="18288" marB="18288" anchor="ctr">
                    <a:solidFill>
                      <a:srgbClr val="FFFFFF"/>
                    </a:solidFill>
                  </a:tcPr>
                </a:tc>
                <a:tc>
                  <a:txBody>
                    <a:bodyPr wrap="square"/>
                    <a:lstStyle/>
                    <a:p>
                      <a:pPr algn="l"/>
                      <a:r>
                        <a:rPr sz="1300" b="0">
                          <a:solidFill>
                            <a:srgbClr val="404040"/>
                          </a:solidFill>
                          <a:latin typeface="Arial"/>
                        </a:rPr>
                        <a:t>Generar $111.000.000 de ingresos con una utilidad estimada de $22.965.000</a:t>
                      </a:r>
                    </a:p>
                  </a:txBody>
                  <a:tcPr marL="54864" marR="54864" marT="18288" marB="18288" anchor="ctr">
                    <a:solidFill>
                      <a:srgbClr val="FFFFFF"/>
                    </a:solidFill>
                  </a:tcPr>
                </a:tc>
              </a:tr>
              <a:tr h="475488">
                <a:tc>
                  <a:txBody>
                    <a:bodyPr wrap="square"/>
                    <a:lstStyle/>
                    <a:p>
                      <a:pPr algn="l"/>
                      <a:r>
                        <a:rPr sz="1300" b="1">
                          <a:solidFill>
                            <a:srgbClr val="1F4E79"/>
                          </a:solidFill>
                          <a:latin typeface="Arial"/>
                        </a:rPr>
                        <a:t>Social</a:t>
                      </a:r>
                    </a:p>
                  </a:txBody>
                  <a:tcPr marL="54864" marR="54864" marT="18288" marB="18288" anchor="ctr">
                    <a:solidFill>
                      <a:srgbClr val="F7F9FB"/>
                    </a:solidFill>
                  </a:tcPr>
                </a:tc>
                <a:tc>
                  <a:txBody>
                    <a:bodyPr wrap="square"/>
                    <a:lstStyle/>
                    <a:p>
                      <a:pPr algn="l"/>
                      <a:r>
                        <a:rPr sz="1300" b="0">
                          <a:solidFill>
                            <a:srgbClr val="404040"/>
                          </a:solidFill>
                          <a:latin typeface="Arial"/>
                        </a:rPr>
                        <a:t>Disminuir la carga administrativa y eliminar errores de cálculo de notas con las reglas del Ministerio de Educación</a:t>
                      </a:r>
                    </a:p>
                  </a:txBody>
                  <a:tcPr marL="54864" marR="54864" marT="18288" marB="18288" anchor="ctr">
                    <a:solidFill>
                      <a:srgbClr val="F7F9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3.1  ANÁLISIS DEL MERCADO</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El cliente objetivo</a:t>
            </a:r>
          </a:p>
        </p:txBody>
      </p:sp>
      <p:sp>
        <p:nvSpPr>
          <p:cNvPr id="4" name="TextBox 3"/>
          <p:cNvSpPr txBox="1"/>
          <p:nvPr/>
        </p:nvSpPr>
        <p:spPr>
          <a:xfrm>
            <a:off x="411480" y="1554480"/>
            <a:ext cx="11384280" cy="548640"/>
          </a:xfrm>
          <a:prstGeom prst="rect">
            <a:avLst/>
          </a:prstGeom>
          <a:noFill/>
        </p:spPr>
        <p:txBody>
          <a:bodyPr wrap="square" lIns="0" rIns="0">
            <a:spAutoFit/>
          </a:bodyPr>
          <a:lstStyle/>
          <a:p>
            <a:pPr algn="l">
              <a:spcBef>
                <a:spcPts val="0"/>
              </a:spcBef>
              <a:spcAft>
                <a:spcPts val="600"/>
              </a:spcAft>
            </a:pPr>
            <a:r>
              <a:rPr sz="1500" b="0" i="0">
                <a:solidFill>
                  <a:srgbClr val="404040"/>
                </a:solidFill>
                <a:latin typeface="Arial"/>
              </a:rPr>
              <a:t>Mercado objetivo: instituciones privadas de Colombia con matrícula entre 200 y 1.500 estudiantes, de básica primaria a media, una sola sede.</a:t>
            </a:r>
          </a:p>
        </p:txBody>
      </p:sp>
      <p:graphicFrame>
        <p:nvGraphicFramePr>
          <p:cNvPr id="5" name="Table 4"/>
          <p:cNvGraphicFramePr>
            <a:graphicFrameLocks noGrp="1"/>
          </p:cNvGraphicFramePr>
          <p:nvPr/>
        </p:nvGraphicFramePr>
        <p:xfrm>
          <a:off x="411480" y="2286000"/>
          <a:ext cx="11384278" cy="1883664"/>
        </p:xfrm>
        <a:graphic>
          <a:graphicData uri="http://schemas.openxmlformats.org/drawingml/2006/table">
            <a:tbl>
              <a:tblPr firstRow="1" bandRow="1">
                <a:tableStyleId>{5C22544A-7EE6-4342-B048-85BDC9FD1C3A}</a:tableStyleId>
              </a:tblPr>
              <a:tblGrid>
                <a:gridCol w="2385277"/>
                <a:gridCol w="975795"/>
                <a:gridCol w="2602121"/>
                <a:gridCol w="5421085"/>
              </a:tblGrid>
              <a:tr h="512064">
                <a:tc>
                  <a:txBody>
                    <a:bodyPr wrap="square"/>
                    <a:lstStyle/>
                    <a:p>
                      <a:pPr algn="l"/>
                      <a:r>
                        <a:rPr sz="1300" b="1">
                          <a:solidFill>
                            <a:srgbClr val="FFFFFF"/>
                          </a:solidFill>
                          <a:latin typeface="Arial"/>
                        </a:rPr>
                        <a:t>Perfil</a:t>
                      </a:r>
                    </a:p>
                  </a:txBody>
                  <a:tcPr marL="54864" marR="54864" marT="18288" marB="18288" anchor="ctr">
                    <a:solidFill>
                      <a:srgbClr val="1F4E79"/>
                    </a:solidFill>
                  </a:tcPr>
                </a:tc>
                <a:tc>
                  <a:txBody>
                    <a:bodyPr wrap="square"/>
                    <a:lstStyle/>
                    <a:p>
                      <a:pPr algn="l"/>
                      <a:r>
                        <a:rPr sz="1300" b="1">
                          <a:solidFill>
                            <a:srgbClr val="FFFFFF"/>
                          </a:solidFill>
                          <a:latin typeface="Arial"/>
                        </a:rPr>
                        <a:t>Edad</a:t>
                      </a:r>
                    </a:p>
                  </a:txBody>
                  <a:tcPr marL="54864" marR="54864" marT="18288" marB="18288" anchor="ctr">
                    <a:solidFill>
                      <a:srgbClr val="1F4E79"/>
                    </a:solidFill>
                  </a:tcPr>
                </a:tc>
                <a:tc>
                  <a:txBody>
                    <a:bodyPr wrap="square"/>
                    <a:lstStyle/>
                    <a:p>
                      <a:pPr algn="l"/>
                      <a:r>
                        <a:rPr sz="1300" b="1">
                          <a:solidFill>
                            <a:srgbClr val="FFFFFF"/>
                          </a:solidFill>
                          <a:latin typeface="Arial"/>
                        </a:rPr>
                        <a:t>Qué decide</a:t>
                      </a:r>
                    </a:p>
                  </a:txBody>
                  <a:tcPr marL="54864" marR="54864" marT="18288" marB="18288" anchor="ctr">
                    <a:solidFill>
                      <a:srgbClr val="1F4E79"/>
                    </a:solidFill>
                  </a:tcPr>
                </a:tc>
                <a:tc>
                  <a:txBody>
                    <a:bodyPr wrap="square"/>
                    <a:lstStyle/>
                    <a:p>
                      <a:pPr algn="l"/>
                      <a:r>
                        <a:rPr sz="1300" b="1">
                          <a:solidFill>
                            <a:srgbClr val="FFFFFF"/>
                          </a:solidFill>
                          <a:latin typeface="Arial"/>
                        </a:rPr>
                        <a:t>Necesidad central</a:t>
                      </a:r>
                    </a:p>
                  </a:txBody>
                  <a:tcPr marL="54864" marR="54864" marT="18288" marB="18288" anchor="ctr">
                    <a:solidFill>
                      <a:srgbClr val="1F4E79"/>
                    </a:solidFill>
                  </a:tcPr>
                </a:tc>
              </a:tr>
              <a:tr h="457200">
                <a:tc>
                  <a:txBody>
                    <a:bodyPr wrap="square"/>
                    <a:lstStyle/>
                    <a:p>
                      <a:pPr algn="l"/>
                      <a:r>
                        <a:rPr sz="1300" b="0">
                          <a:solidFill>
                            <a:srgbClr val="404040"/>
                          </a:solidFill>
                          <a:latin typeface="Arial"/>
                        </a:rPr>
                        <a:t>Rector (decisor)</a:t>
                      </a:r>
                    </a:p>
                  </a:txBody>
                  <a:tcPr marL="54864" marR="54864" marT="18288" marB="18288" anchor="ctr">
                    <a:solidFill>
                      <a:srgbClr val="FFFFFF"/>
                    </a:solidFill>
                  </a:tcPr>
                </a:tc>
                <a:tc>
                  <a:txBody>
                    <a:bodyPr wrap="square"/>
                    <a:lstStyle/>
                    <a:p>
                      <a:pPr algn="l"/>
                      <a:r>
                        <a:rPr sz="1300" b="0">
                          <a:solidFill>
                            <a:srgbClr val="404040"/>
                          </a:solidFill>
                          <a:latin typeface="Arial"/>
                        </a:rPr>
                        <a:t>45-65</a:t>
                      </a:r>
                    </a:p>
                  </a:txBody>
                  <a:tcPr marL="54864" marR="54864" marT="18288" marB="18288" anchor="ctr">
                    <a:solidFill>
                      <a:srgbClr val="FFFFFF"/>
                    </a:solidFill>
                  </a:tcPr>
                </a:tc>
                <a:tc>
                  <a:txBody>
                    <a:bodyPr wrap="square"/>
                    <a:lstStyle/>
                    <a:p>
                      <a:pPr algn="l"/>
                      <a:r>
                        <a:rPr sz="1300" b="0">
                          <a:solidFill>
                            <a:srgbClr val="404040"/>
                          </a:solidFill>
                          <a:latin typeface="Arial"/>
                        </a:rPr>
                        <a:t>Aprueba el presupuesto</a:t>
                      </a:r>
                    </a:p>
                  </a:txBody>
                  <a:tcPr marL="54864" marR="54864" marT="18288" marB="18288" anchor="ctr">
                    <a:solidFill>
                      <a:srgbClr val="FFFFFF"/>
                    </a:solidFill>
                  </a:tcPr>
                </a:tc>
                <a:tc>
                  <a:txBody>
                    <a:bodyPr wrap="square"/>
                    <a:lstStyle/>
                    <a:p>
                      <a:pPr algn="l"/>
                      <a:r>
                        <a:rPr sz="1300" b="0">
                          <a:solidFill>
                            <a:srgbClr val="404040"/>
                          </a:solidFill>
                          <a:latin typeface="Arial"/>
                        </a:rPr>
                        <a:t>No perder los datos de sus estudiantes ni que el sistema falle</a:t>
                      </a:r>
                    </a:p>
                  </a:txBody>
                  <a:tcPr marL="54864" marR="54864" marT="18288" marB="18288" anchor="ctr">
                    <a:solidFill>
                      <a:srgbClr val="FFFFFF"/>
                    </a:solidFill>
                  </a:tcPr>
                </a:tc>
              </a:tr>
              <a:tr h="457200">
                <a:tc>
                  <a:txBody>
                    <a:bodyPr wrap="square"/>
                    <a:lstStyle/>
                    <a:p>
                      <a:pPr algn="l"/>
                      <a:r>
                        <a:rPr sz="1300" b="0">
                          <a:solidFill>
                            <a:srgbClr val="404040"/>
                          </a:solidFill>
                          <a:latin typeface="Arial"/>
                        </a:rPr>
                        <a:t>Secretaría y docentes</a:t>
                      </a:r>
                    </a:p>
                  </a:txBody>
                  <a:tcPr marL="54864" marR="54864" marT="18288" marB="18288" anchor="ctr">
                    <a:solidFill>
                      <a:srgbClr val="F7F9FB"/>
                    </a:solidFill>
                  </a:tcPr>
                </a:tc>
                <a:tc>
                  <a:txBody>
                    <a:bodyPr wrap="square"/>
                    <a:lstStyle/>
                    <a:p>
                      <a:pPr algn="l"/>
                      <a:r>
                        <a:rPr sz="1300" b="0">
                          <a:solidFill>
                            <a:srgbClr val="404040"/>
                          </a:solidFill>
                          <a:latin typeface="Arial"/>
                        </a:rPr>
                        <a:t>30-55</a:t>
                      </a:r>
                    </a:p>
                  </a:txBody>
                  <a:tcPr marL="54864" marR="54864" marT="18288" marB="18288" anchor="ctr">
                    <a:solidFill>
                      <a:srgbClr val="F7F9FB"/>
                    </a:solidFill>
                  </a:tcPr>
                </a:tc>
                <a:tc>
                  <a:txBody>
                    <a:bodyPr wrap="square"/>
                    <a:lstStyle/>
                    <a:p>
                      <a:pPr algn="l"/>
                      <a:r>
                        <a:rPr sz="1300" b="0">
                          <a:solidFill>
                            <a:srgbClr val="404040"/>
                          </a:solidFill>
                          <a:latin typeface="Arial"/>
                        </a:rPr>
                        <a:t>Uso diario del sistema</a:t>
                      </a:r>
                    </a:p>
                  </a:txBody>
                  <a:tcPr marL="54864" marR="54864" marT="18288" marB="18288" anchor="ctr">
                    <a:solidFill>
                      <a:srgbClr val="F7F9FB"/>
                    </a:solidFill>
                  </a:tcPr>
                </a:tc>
                <a:tc>
                  <a:txBody>
                    <a:bodyPr wrap="square"/>
                    <a:lstStyle/>
                    <a:p>
                      <a:pPr algn="l"/>
                      <a:r>
                        <a:rPr sz="1300" b="0">
                          <a:solidFill>
                            <a:srgbClr val="404040"/>
                          </a:solidFill>
                          <a:latin typeface="Arial"/>
                        </a:rPr>
                        <a:t>No cambiar de rutina más de lo necesario</a:t>
                      </a:r>
                    </a:p>
                  </a:txBody>
                  <a:tcPr marL="54864" marR="54864" marT="18288" marB="18288" anchor="ctr">
                    <a:solidFill>
                      <a:srgbClr val="F7F9FB"/>
                    </a:solidFill>
                  </a:tcPr>
                </a:tc>
              </a:tr>
              <a:tr h="457200">
                <a:tc>
                  <a:txBody>
                    <a:bodyPr wrap="square"/>
                    <a:lstStyle/>
                    <a:p>
                      <a:pPr algn="l"/>
                      <a:r>
                        <a:rPr sz="1300" b="0">
                          <a:solidFill>
                            <a:srgbClr val="404040"/>
                          </a:solidFill>
                          <a:latin typeface="Arial"/>
                        </a:rPr>
                        <a:t>Acudiente</a:t>
                      </a:r>
                    </a:p>
                  </a:txBody>
                  <a:tcPr marL="54864" marR="54864" marT="18288" marB="18288" anchor="ctr">
                    <a:solidFill>
                      <a:srgbClr val="FFFFFF"/>
                    </a:solidFill>
                  </a:tcPr>
                </a:tc>
                <a:tc>
                  <a:txBody>
                    <a:bodyPr wrap="square"/>
                    <a:lstStyle/>
                    <a:p>
                      <a:pPr algn="l"/>
                      <a:r>
                        <a:rPr sz="1300" b="0">
                          <a:solidFill>
                            <a:srgbClr val="404040"/>
                          </a:solidFill>
                          <a:latin typeface="Arial"/>
                        </a:rPr>
                        <a:t>—</a:t>
                      </a:r>
                    </a:p>
                  </a:txBody>
                  <a:tcPr marL="54864" marR="54864" marT="18288" marB="18288" anchor="ctr">
                    <a:solidFill>
                      <a:srgbClr val="FFFFFF"/>
                    </a:solidFill>
                  </a:tcPr>
                </a:tc>
                <a:tc>
                  <a:txBody>
                    <a:bodyPr wrap="square"/>
                    <a:lstStyle/>
                    <a:p>
                      <a:pPr algn="l"/>
                      <a:r>
                        <a:rPr sz="1300" b="0">
                          <a:solidFill>
                            <a:srgbClr val="404040"/>
                          </a:solidFill>
                          <a:latin typeface="Arial"/>
                        </a:rPr>
                        <a:t>Solo consulta</a:t>
                      </a:r>
                    </a:p>
                  </a:txBody>
                  <a:tcPr marL="54864" marR="54864" marT="18288" marB="18288" anchor="ctr">
                    <a:solidFill>
                      <a:srgbClr val="FFFFFF"/>
                    </a:solidFill>
                  </a:tcPr>
                </a:tc>
                <a:tc>
                  <a:txBody>
                    <a:bodyPr wrap="square"/>
                    <a:lstStyle/>
                    <a:p>
                      <a:pPr algn="l"/>
                      <a:r>
                        <a:rPr sz="1300" b="0">
                          <a:solidFill>
                            <a:srgbClr val="404040"/>
                          </a:solidFill>
                          <a:latin typeface="Arial"/>
                        </a:rPr>
                        <a:t>Ver notas y boletines desde el celular</a:t>
                      </a:r>
                    </a:p>
                  </a:txBody>
                  <a:tcPr marL="54864" marR="54864" marT="18288" marB="18288" anchor="ctr">
                    <a:solidFill>
                      <a:srgbClr val="FFFFFF"/>
                    </a:solidFill>
                  </a:tcPr>
                </a:tc>
              </a:tr>
            </a:tbl>
          </a:graphicData>
        </a:graphic>
      </p:graphicFrame>
      <p:sp>
        <p:nvSpPr>
          <p:cNvPr id="6" name="TextBox 5"/>
          <p:cNvSpPr txBox="1"/>
          <p:nvPr/>
        </p:nvSpPr>
        <p:spPr>
          <a:xfrm>
            <a:off x="411480" y="4389120"/>
            <a:ext cx="11384280" cy="1737360"/>
          </a:xfrm>
          <a:prstGeom prst="rect">
            <a:avLst/>
          </a:prstGeom>
          <a:noFill/>
        </p:spPr>
        <p:txBody>
          <a:bodyPr wrap="square" lIns="0" rIns="0">
            <a:spAutoFit/>
          </a:bodyPr>
          <a:lstStyle/>
          <a:p>
            <a:pPr algn="l">
              <a:spcBef>
                <a:spcPts val="0"/>
              </a:spcBef>
              <a:spcAft>
                <a:spcPts val="600"/>
              </a:spcAft>
            </a:pPr>
            <a:r>
              <a:rPr sz="1300" b="1" i="0">
                <a:solidFill>
                  <a:srgbClr val="1F4E79"/>
                </a:solidFill>
                <a:latin typeface="Arial"/>
              </a:rPr>
              <a:t>POR QUÉ SE DESCARTAN DOS SEGMENTOS</a:t>
            </a:r>
          </a:p>
          <a:p>
            <a:pPr algn="l">
              <a:spcBef>
                <a:spcPts val="0"/>
              </a:spcBef>
              <a:spcAft>
                <a:spcPts val="0"/>
              </a:spcAft>
            </a:pPr>
            <a:r>
              <a:rPr sz="1500" b="0" i="0">
                <a:solidFill>
                  <a:srgbClr val="404040"/>
                </a:solidFill>
                <a:latin typeface="Arial"/>
              </a:rPr>
              <a:t>Menos de 200 estudiantes: no alcanza a cubrir la suscripción.   Colegios muy grandes y secretarías distritales: exigen licitaciones y requisitos que no podemos cumplir en el primer año.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3.2-3.3  ANÁLISIS DE LA COMPETENCIA</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Comparación con la competencia</a:t>
            </a:r>
          </a:p>
        </p:txBody>
      </p:sp>
      <p:graphicFrame>
        <p:nvGraphicFramePr>
          <p:cNvPr id="4" name="Table 3"/>
          <p:cNvGraphicFramePr>
            <a:graphicFrameLocks noGrp="1"/>
          </p:cNvGraphicFramePr>
          <p:nvPr/>
        </p:nvGraphicFramePr>
        <p:xfrm>
          <a:off x="411480" y="1600200"/>
          <a:ext cx="11384279" cy="2889504"/>
        </p:xfrm>
        <a:graphic>
          <a:graphicData uri="http://schemas.openxmlformats.org/drawingml/2006/table">
            <a:tbl>
              <a:tblPr firstRow="1" bandRow="1">
                <a:tableStyleId>{5C22544A-7EE6-4342-B048-85BDC9FD1C3A}</a:tableStyleId>
              </a:tblPr>
              <a:tblGrid>
                <a:gridCol w="2602121"/>
                <a:gridCol w="2276856"/>
                <a:gridCol w="2818964"/>
                <a:gridCol w="3686338"/>
              </a:tblGrid>
              <a:tr h="621792">
                <a:tc>
                  <a:txBody>
                    <a:bodyPr wrap="square"/>
                    <a:lstStyle/>
                    <a:p>
                      <a:pPr algn="l"/>
                      <a:r>
                        <a:rPr sz="1200" b="1">
                          <a:solidFill>
                            <a:srgbClr val="FFFFFF"/>
                          </a:solidFill>
                          <a:latin typeface="Arial"/>
                        </a:rPr>
                        <a:t>Competidor</a:t>
                      </a:r>
                    </a:p>
                  </a:txBody>
                  <a:tcPr marL="54864" marR="54864" marT="18288" marB="18288" anchor="ctr">
                    <a:solidFill>
                      <a:srgbClr val="1F4E79"/>
                    </a:solidFill>
                  </a:tcPr>
                </a:tc>
                <a:tc>
                  <a:txBody>
                    <a:bodyPr wrap="square"/>
                    <a:lstStyle/>
                    <a:p>
                      <a:pPr algn="l"/>
                      <a:r>
                        <a:rPr sz="1200" b="1">
                          <a:solidFill>
                            <a:srgbClr val="FFFFFF"/>
                          </a:solidFill>
                          <a:latin typeface="Arial"/>
                        </a:rPr>
                        <a:t>Precios</a:t>
                      </a:r>
                    </a:p>
                  </a:txBody>
                  <a:tcPr marL="54864" marR="54864" marT="18288" marB="18288" anchor="ctr">
                    <a:solidFill>
                      <a:srgbClr val="1F4E79"/>
                    </a:solidFill>
                  </a:tcPr>
                </a:tc>
                <a:tc>
                  <a:txBody>
                    <a:bodyPr wrap="square"/>
                    <a:lstStyle/>
                    <a:p>
                      <a:pPr algn="l"/>
                      <a:r>
                        <a:rPr sz="1200" b="1">
                          <a:solidFill>
                            <a:srgbClr val="FFFFFF"/>
                          </a:solidFill>
                          <a:latin typeface="Arial"/>
                        </a:rPr>
                        <a:t>Fortalezas</a:t>
                      </a:r>
                    </a:p>
                  </a:txBody>
                  <a:tcPr marL="54864" marR="54864" marT="18288" marB="18288" anchor="ctr">
                    <a:solidFill>
                      <a:srgbClr val="1F4E79"/>
                    </a:solidFill>
                  </a:tcPr>
                </a:tc>
                <a:tc>
                  <a:txBody>
                    <a:bodyPr wrap="square"/>
                    <a:lstStyle/>
                    <a:p>
                      <a:pPr algn="l"/>
                      <a:r>
                        <a:rPr sz="1200" b="1">
                          <a:solidFill>
                            <a:srgbClr val="FFFFFF"/>
                          </a:solidFill>
                          <a:latin typeface="Arial"/>
                        </a:rPr>
                        <a:t>Debilidades</a:t>
                      </a:r>
                    </a:p>
                  </a:txBody>
                  <a:tcPr marL="54864" marR="54864" marT="18288" marB="18288" anchor="ctr">
                    <a:solidFill>
                      <a:srgbClr val="1F4E79"/>
                    </a:solidFill>
                  </a:tcPr>
                </a:tc>
              </a:tr>
              <a:tr h="566928">
                <a:tc>
                  <a:txBody>
                    <a:bodyPr wrap="square"/>
                    <a:lstStyle/>
                    <a:p>
                      <a:pPr algn="l"/>
                      <a:r>
                        <a:rPr sz="1200" b="0">
                          <a:solidFill>
                            <a:srgbClr val="404040"/>
                          </a:solidFill>
                          <a:latin typeface="Arial"/>
                        </a:rPr>
                        <a:t>Sistema interno del colegio</a:t>
                      </a:r>
                    </a:p>
                  </a:txBody>
                  <a:tcPr marL="54864" marR="54864" marT="18288" marB="18288" anchor="ctr">
                    <a:solidFill>
                      <a:srgbClr val="FFFFFF"/>
                    </a:solidFill>
                  </a:tcPr>
                </a:tc>
                <a:tc>
                  <a:txBody>
                    <a:bodyPr wrap="square"/>
                    <a:lstStyle/>
                    <a:p>
                      <a:pPr algn="l"/>
                      <a:r>
                        <a:rPr sz="1200" b="0">
                          <a:solidFill>
                            <a:srgbClr val="404040"/>
                          </a:solidFill>
                          <a:latin typeface="Arial"/>
                        </a:rPr>
                        <a:t>Costo hundido, sin canon</a:t>
                      </a:r>
                    </a:p>
                  </a:txBody>
                  <a:tcPr marL="54864" marR="54864" marT="18288" marB="18288" anchor="ctr">
                    <a:solidFill>
                      <a:srgbClr val="FFFFFF"/>
                    </a:solidFill>
                  </a:tcPr>
                </a:tc>
                <a:tc>
                  <a:txBody>
                    <a:bodyPr wrap="square"/>
                    <a:lstStyle/>
                    <a:p>
                      <a:pPr algn="l"/>
                      <a:r>
                        <a:rPr sz="1200" b="0">
                          <a:solidFill>
                            <a:srgbClr val="404040"/>
                          </a:solidFill>
                          <a:latin typeface="Arial"/>
                        </a:rPr>
                        <a:t>Ya integrado; no requiere migración</a:t>
                      </a:r>
                    </a:p>
                  </a:txBody>
                  <a:tcPr marL="54864" marR="54864" marT="18288" marB="18288" anchor="ctr">
                    <a:solidFill>
                      <a:srgbClr val="FFFFFF"/>
                    </a:solidFill>
                  </a:tcPr>
                </a:tc>
                <a:tc>
                  <a:txBody>
                    <a:bodyPr wrap="square"/>
                    <a:lstStyle/>
                    <a:p>
                      <a:pPr algn="l"/>
                      <a:r>
                        <a:rPr sz="1200" b="0">
                          <a:solidFill>
                            <a:srgbClr val="404040"/>
                          </a:solidFill>
                          <a:latin typeface="Arial"/>
                        </a:rPr>
                        <a:t>Exige programador; sin soporte ni versión web</a:t>
                      </a:r>
                    </a:p>
                  </a:txBody>
                  <a:tcPr marL="54864" marR="54864" marT="18288" marB="18288" anchor="ctr">
                    <a:solidFill>
                      <a:srgbClr val="FFFFFF"/>
                    </a:solidFill>
                  </a:tcPr>
                </a:tc>
              </a:tr>
              <a:tr h="566928">
                <a:tc>
                  <a:txBody>
                    <a:bodyPr wrap="square"/>
                    <a:lstStyle/>
                    <a:p>
                      <a:pPr algn="l"/>
                      <a:r>
                        <a:rPr sz="1200" b="0">
                          <a:solidFill>
                            <a:srgbClr val="404040"/>
                          </a:solidFill>
                          <a:latin typeface="Arial"/>
                        </a:rPr>
                        <a:t>Google Workspace for Education</a:t>
                      </a:r>
                    </a:p>
                  </a:txBody>
                  <a:tcPr marL="54864" marR="54864" marT="18288" marB="18288" anchor="ctr">
                    <a:solidFill>
                      <a:srgbClr val="F7F9FB"/>
                    </a:solidFill>
                  </a:tcPr>
                </a:tc>
                <a:tc>
                  <a:txBody>
                    <a:bodyPr wrap="square"/>
                    <a:lstStyle/>
                    <a:p>
                      <a:pPr algn="l"/>
                      <a:r>
                        <a:rPr sz="1200" b="0">
                          <a:solidFill>
                            <a:srgbClr val="404040"/>
                          </a:solidFill>
                          <a:latin typeface="Arial"/>
                        </a:rPr>
                        <a:t>Versión Education gratis</a:t>
                      </a:r>
                    </a:p>
                  </a:txBody>
                  <a:tcPr marL="54864" marR="54864" marT="18288" marB="18288" anchor="ctr">
                    <a:solidFill>
                      <a:srgbClr val="F7F9FB"/>
                    </a:solidFill>
                  </a:tcPr>
                </a:tc>
                <a:tc>
                  <a:txBody>
                    <a:bodyPr wrap="square"/>
                    <a:lstStyle/>
                    <a:p>
                      <a:pPr algn="l"/>
                      <a:r>
                        <a:rPr sz="1200" b="0">
                          <a:solidFill>
                            <a:srgbClr val="404040"/>
                          </a:solidFill>
                          <a:latin typeface="Arial"/>
                        </a:rPr>
                        <a:t>Precio cero; uso conocido</a:t>
                      </a:r>
                    </a:p>
                  </a:txBody>
                  <a:tcPr marL="54864" marR="54864" marT="18288" marB="18288" anchor="ctr">
                    <a:solidFill>
                      <a:srgbClr val="F7F9FB"/>
                    </a:solidFill>
                  </a:tcPr>
                </a:tc>
                <a:tc>
                  <a:txBody>
                    <a:bodyPr wrap="square"/>
                    <a:lstStyle/>
                    <a:p>
                      <a:pPr algn="l"/>
                      <a:r>
                        <a:rPr sz="1200" b="0">
                          <a:solidFill>
                            <a:srgbClr val="404040"/>
                          </a:solidFill>
                          <a:latin typeface="Arial"/>
                        </a:rPr>
                        <a:t>No aplica la norma escolar; notas sin control</a:t>
                      </a:r>
                    </a:p>
                  </a:txBody>
                  <a:tcPr marL="54864" marR="54864" marT="18288" marB="18288" anchor="ctr">
                    <a:solidFill>
                      <a:srgbClr val="F7F9FB"/>
                    </a:solidFill>
                  </a:tcPr>
                </a:tc>
              </a:tr>
              <a:tr h="566928">
                <a:tc>
                  <a:txBody>
                    <a:bodyPr wrap="square"/>
                    <a:lstStyle/>
                    <a:p>
                      <a:pPr algn="l"/>
                      <a:r>
                        <a:rPr sz="1200" b="0">
                          <a:solidFill>
                            <a:srgbClr val="404040"/>
                          </a:solidFill>
                          <a:latin typeface="Arial"/>
                        </a:rPr>
                        <a:t>SaaS escolar de la región</a:t>
                      </a:r>
                    </a:p>
                  </a:txBody>
                  <a:tcPr marL="54864" marR="54864" marT="18288" marB="18288" anchor="ctr">
                    <a:solidFill>
                      <a:srgbClr val="FFFFFF"/>
                    </a:solidFill>
                  </a:tcPr>
                </a:tc>
                <a:tc>
                  <a:txBody>
                    <a:bodyPr wrap="square"/>
                    <a:lstStyle/>
                    <a:p>
                      <a:pPr algn="l"/>
                      <a:r>
                        <a:rPr sz="1200" b="0">
                          <a:solidFill>
                            <a:srgbClr val="404040"/>
                          </a:solidFill>
                          <a:latin typeface="Arial"/>
                        </a:rPr>
                        <a:t>Suscripción por institución o estudiante</a:t>
                      </a:r>
                    </a:p>
                  </a:txBody>
                  <a:tcPr marL="54864" marR="54864" marT="18288" marB="18288" anchor="ctr">
                    <a:solidFill>
                      <a:srgbClr val="FFFFFF"/>
                    </a:solidFill>
                  </a:tcPr>
                </a:tc>
                <a:tc>
                  <a:txBody>
                    <a:bodyPr wrap="square"/>
                    <a:lstStyle/>
                    <a:p>
                      <a:pPr algn="l"/>
                      <a:r>
                        <a:rPr sz="1200" b="0">
                          <a:solidFill>
                            <a:srgbClr val="404040"/>
                          </a:solidFill>
                          <a:latin typeface="Arial"/>
                        </a:rPr>
                        <a:t>Soporte formal; referencias comprobables</a:t>
                      </a:r>
                    </a:p>
                  </a:txBody>
                  <a:tcPr marL="54864" marR="54864" marT="18288" marB="18288" anchor="ctr">
                    <a:solidFill>
                      <a:srgbClr val="FFFFFF"/>
                    </a:solidFill>
                  </a:tcPr>
                </a:tc>
                <a:tc>
                  <a:txBody>
                    <a:bodyPr wrap="square"/>
                    <a:lstStyle/>
                    <a:p>
                      <a:pPr algn="l"/>
                      <a:r>
                        <a:rPr sz="1200" b="0">
                          <a:solidFill>
                            <a:srgbClr val="404040"/>
                          </a:solidFill>
                          <a:latin typeface="Arial"/>
                        </a:rPr>
                        <a:t>Cobra por estudiante; implementación costosa</a:t>
                      </a:r>
                    </a:p>
                  </a:txBody>
                  <a:tcPr marL="54864" marR="54864" marT="18288" marB="18288" anchor="ctr">
                    <a:solidFill>
                      <a:srgbClr val="FFFFFF"/>
                    </a:solidFill>
                  </a:tcPr>
                </a:tc>
              </a:tr>
              <a:tr h="566928">
                <a:tc>
                  <a:txBody>
                    <a:bodyPr wrap="square"/>
                    <a:lstStyle/>
                    <a:p>
                      <a:pPr algn="l"/>
                      <a:r>
                        <a:rPr sz="1200" b="0">
                          <a:solidFill>
                            <a:srgbClr val="404040"/>
                          </a:solidFill>
                          <a:latin typeface="Arial"/>
                        </a:rPr>
                        <a:t>Papel y hoja de cálculo</a:t>
                      </a:r>
                    </a:p>
                  </a:txBody>
                  <a:tcPr marL="54864" marR="54864" marT="18288" marB="18288" anchor="ctr">
                    <a:solidFill>
                      <a:srgbClr val="F7F9FB"/>
                    </a:solidFill>
                  </a:tcPr>
                </a:tc>
                <a:tc>
                  <a:txBody>
                    <a:bodyPr wrap="square"/>
                    <a:lstStyle/>
                    <a:p>
                      <a:pPr algn="l"/>
                      <a:r>
                        <a:rPr sz="1200" b="0">
                          <a:solidFill>
                            <a:srgbClr val="404040"/>
                          </a:solidFill>
                          <a:latin typeface="Arial"/>
                        </a:rPr>
                        <a:t>$0 en licencias</a:t>
                      </a:r>
                    </a:p>
                  </a:txBody>
                  <a:tcPr marL="54864" marR="54864" marT="18288" marB="18288" anchor="ctr">
                    <a:solidFill>
                      <a:srgbClr val="F7F9FB"/>
                    </a:solidFill>
                  </a:tcPr>
                </a:tc>
                <a:tc>
                  <a:txBody>
                    <a:bodyPr wrap="square"/>
                    <a:lstStyle/>
                    <a:p>
                      <a:pPr algn="l"/>
                      <a:r>
                        <a:rPr sz="1200" b="0">
                          <a:solidFill>
                            <a:srgbClr val="404040"/>
                          </a:solidFill>
                          <a:latin typeface="Arial"/>
                        </a:rPr>
                        <a:t>Sin inversión ni capacitación</a:t>
                      </a:r>
                    </a:p>
                  </a:txBody>
                  <a:tcPr marL="54864" marR="54864" marT="18288" marB="18288" anchor="ctr">
                    <a:solidFill>
                      <a:srgbClr val="F7F9FB"/>
                    </a:solidFill>
                  </a:tcPr>
                </a:tc>
                <a:tc>
                  <a:txBody>
                    <a:bodyPr wrap="square"/>
                    <a:lstStyle/>
                    <a:p>
                      <a:pPr algn="l"/>
                      <a:r>
                        <a:rPr sz="1200" b="0">
                          <a:solidFill>
                            <a:srgbClr val="404040"/>
                          </a:solidFill>
                          <a:latin typeface="Arial"/>
                        </a:rPr>
                        <a:t>Errores de cálculo; sin trazabilidad</a:t>
                      </a:r>
                    </a:p>
                  </a:txBody>
                  <a:tcPr marL="54864" marR="54864" marT="18288" marB="18288" anchor="ctr">
                    <a:solidFill>
                      <a:srgbClr val="F7F9FB"/>
                    </a:solidFill>
                  </a:tcPr>
                </a:tc>
              </a:tr>
            </a:tbl>
          </a:graphicData>
        </a:graphic>
      </p:graphicFrame>
      <p:sp>
        <p:nvSpPr>
          <p:cNvPr id="5" name="Rectangle 4"/>
          <p:cNvSpPr/>
          <p:nvPr/>
        </p:nvSpPr>
        <p:spPr>
          <a:xfrm>
            <a:off x="411480" y="4754880"/>
            <a:ext cx="11384280" cy="1371600"/>
          </a:xfrm>
          <a:prstGeom prst="rect">
            <a:avLst/>
          </a:prstGeom>
          <a:solidFill>
            <a:srgbClr val="F7F9FB"/>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1F4E79"/>
                </a:solidFill>
                <a:latin typeface="Arial"/>
              </a:rPr>
              <a:t>NUESTRA VENTAJA COMPETITIVA</a:t>
            </a:r>
          </a:p>
          <a:p>
            <a:pPr algn="l">
              <a:spcBef>
                <a:spcPts val="0"/>
              </a:spcBef>
              <a:spcAft>
                <a:spcPts val="600"/>
              </a:spcAft>
            </a:pPr>
            <a:r>
              <a:rPr sz="1500" b="0" i="0">
                <a:solidFill>
                  <a:srgbClr val="404040"/>
                </a:solidFill>
                <a:latin typeface="Arial"/>
              </a:rPr>
              <a:t>Precio fijo por institución (no por estudiante)  +  académico y contable en una sola licencia  +  sin costos de licencia, porque todo es código abierto.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3.4.1  CONCEPTO DEL PRODUCTO</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El producto</a:t>
            </a:r>
          </a:p>
        </p:txBody>
      </p:sp>
      <p:graphicFrame>
        <p:nvGraphicFramePr>
          <p:cNvPr id="4" name="Table 3"/>
          <p:cNvGraphicFramePr>
            <a:graphicFrameLocks noGrp="1"/>
          </p:cNvGraphicFramePr>
          <p:nvPr/>
        </p:nvGraphicFramePr>
        <p:xfrm>
          <a:off x="411480" y="1600200"/>
          <a:ext cx="11384279" cy="3493008"/>
        </p:xfrm>
        <a:graphic>
          <a:graphicData uri="http://schemas.openxmlformats.org/drawingml/2006/table">
            <a:tbl>
              <a:tblPr firstRow="1" bandRow="1">
                <a:tableStyleId>{5C22544A-7EE6-4342-B048-85BDC9FD1C3A}</a:tableStyleId>
              </a:tblPr>
              <a:tblGrid>
                <a:gridCol w="2184861"/>
                <a:gridCol w="9199418"/>
              </a:tblGrid>
              <a:tr h="484632">
                <a:tc gridSpan="2">
                  <a:txBody>
                    <a:bodyPr wrap="square"/>
                    <a:lstStyle/>
                    <a:p>
                      <a:pPr algn="l"/>
                      <a:r>
                        <a:rPr sz="1300" b="1">
                          <a:solidFill>
                            <a:srgbClr val="FFFFFF"/>
                          </a:solidFill>
                          <a:latin typeface="Arial"/>
                        </a:rPr>
                        <a:t>Ficha técnica</a:t>
                      </a:r>
                    </a:p>
                  </a:txBody>
                  <a:tcPr marL="54864" marR="54864" marT="18288" marB="18288" anchor="ctr">
                    <a:solidFill>
                      <a:srgbClr val="1F4E79"/>
                    </a:solidFill>
                  </a:tcPr>
                </a:tc>
                <a:tc hMerge="1">
                  <a:txBody>
                    <a:bodyPr wrap="square"/>
                    <a:lstStyle/>
                    <a:p>
                      <a:pPr algn="l"/>
                      <a:r>
                        <a:rPr sz="1300" b="1">
                          <a:solidFill>
                            <a:srgbClr val="FFFFFF"/>
                          </a:solidFill>
                          <a:latin typeface="Arial"/>
                        </a:rPr>
                        <a:t/>
                      </a:r>
                    </a:p>
                  </a:txBody>
                  <a:tcPr marL="54864" marR="54864" marT="18288" marB="18288" anchor="ctr">
                    <a:solidFill>
                      <a:srgbClr val="1F4E79"/>
                    </a:solidFill>
                  </a:tcPr>
                </a:tc>
              </a:tr>
              <a:tr h="429768">
                <a:tc>
                  <a:txBody>
                    <a:bodyPr wrap="square"/>
                    <a:lstStyle/>
                    <a:p>
                      <a:pPr algn="l"/>
                      <a:r>
                        <a:rPr sz="1300" b="0">
                          <a:solidFill>
                            <a:srgbClr val="404040"/>
                          </a:solidFill>
                          <a:latin typeface="Arial"/>
                        </a:rPr>
                        <a:t>Categoría</a:t>
                      </a:r>
                    </a:p>
                  </a:txBody>
                  <a:tcPr marL="54864" marR="54864" marT="18288" marB="18288" anchor="ctr">
                    <a:solidFill>
                      <a:srgbClr val="FFFFFF"/>
                    </a:solidFill>
                  </a:tcPr>
                </a:tc>
                <a:tc>
                  <a:txBody>
                    <a:bodyPr wrap="square"/>
                    <a:lstStyle/>
                    <a:p>
                      <a:pPr algn="l"/>
                      <a:r>
                        <a:rPr sz="1300" b="0">
                          <a:solidFill>
                            <a:srgbClr val="404040"/>
                          </a:solidFill>
                          <a:latin typeface="Arial"/>
                        </a:rPr>
                        <a:t>Software de gestión educativa SaaS, con alcance académico y contable integrado</a:t>
                      </a:r>
                    </a:p>
                  </a:txBody>
                  <a:tcPr marL="54864" marR="54864" marT="18288" marB="18288" anchor="ctr">
                    <a:solidFill>
                      <a:srgbClr val="FFFFFF"/>
                    </a:solidFill>
                  </a:tcPr>
                </a:tc>
              </a:tr>
              <a:tr h="429768">
                <a:tc>
                  <a:txBody>
                    <a:bodyPr wrap="square"/>
                    <a:lstStyle/>
                    <a:p>
                      <a:pPr algn="l"/>
                      <a:r>
                        <a:rPr sz="1300" b="0">
                          <a:solidFill>
                            <a:srgbClr val="404040"/>
                          </a:solidFill>
                          <a:latin typeface="Arial"/>
                        </a:rPr>
                        <a:t>Tecnología</a:t>
                      </a:r>
                    </a:p>
                  </a:txBody>
                  <a:tcPr marL="54864" marR="54864" marT="18288" marB="18288" anchor="ctr">
                    <a:solidFill>
                      <a:srgbClr val="F7F9FB"/>
                    </a:solidFill>
                  </a:tcPr>
                </a:tc>
                <a:tc>
                  <a:txBody>
                    <a:bodyPr wrap="square"/>
                    <a:lstStyle/>
                    <a:p>
                      <a:pPr algn="l"/>
                      <a:r>
                        <a:rPr sz="1300" b="0">
                          <a:solidFill>
                            <a:srgbClr val="404040"/>
                          </a:solidFill>
                          <a:latin typeface="Arial"/>
                        </a:rPr>
                        <a:t>React, Vite y Material UI (frontend) · Node.js y Express (backend) · MongoDB</a:t>
                      </a:r>
                    </a:p>
                  </a:txBody>
                  <a:tcPr marL="54864" marR="54864" marT="18288" marB="18288" anchor="ctr">
                    <a:solidFill>
                      <a:srgbClr val="F7F9FB"/>
                    </a:solidFill>
                  </a:tcPr>
                </a:tc>
              </a:tr>
              <a:tr h="429768">
                <a:tc>
                  <a:txBody>
                    <a:bodyPr wrap="square"/>
                    <a:lstStyle/>
                    <a:p>
                      <a:pPr algn="l"/>
                      <a:r>
                        <a:rPr sz="1300" b="0">
                          <a:solidFill>
                            <a:srgbClr val="404040"/>
                          </a:solidFill>
                          <a:latin typeface="Arial"/>
                        </a:rPr>
                        <a:t>Dispositivos</a:t>
                      </a:r>
                    </a:p>
                  </a:txBody>
                  <a:tcPr marL="54864" marR="54864" marT="18288" marB="18288" anchor="ctr">
                    <a:solidFill>
                      <a:srgbClr val="FFFFFF"/>
                    </a:solidFill>
                  </a:tcPr>
                </a:tc>
                <a:tc>
                  <a:txBody>
                    <a:bodyPr wrap="square"/>
                    <a:lstStyle/>
                    <a:p>
                      <a:pPr algn="l"/>
                      <a:r>
                        <a:rPr sz="1300" b="0">
                          <a:solidFill>
                            <a:srgbClr val="404040"/>
                          </a:solidFill>
                          <a:latin typeface="Arial"/>
                        </a:rPr>
                        <a:t>Computadora, tableta y celular (interfaz responsiva, funciona en el navegador)</a:t>
                      </a:r>
                    </a:p>
                  </a:txBody>
                  <a:tcPr marL="54864" marR="54864" marT="18288" marB="18288" anchor="ctr">
                    <a:solidFill>
                      <a:srgbClr val="FFFFFF"/>
                    </a:solidFill>
                  </a:tcPr>
                </a:tc>
              </a:tr>
              <a:tr h="429768">
                <a:tc>
                  <a:txBody>
                    <a:bodyPr wrap="square"/>
                    <a:lstStyle/>
                    <a:p>
                      <a:pPr algn="l"/>
                      <a:r>
                        <a:rPr sz="1300" b="0">
                          <a:solidFill>
                            <a:srgbClr val="404040"/>
                          </a:solidFill>
                          <a:latin typeface="Arial"/>
                        </a:rPr>
                        <a:t>Roles y permisos</a:t>
                      </a:r>
                    </a:p>
                  </a:txBody>
                  <a:tcPr marL="54864" marR="54864" marT="18288" marB="18288" anchor="ctr">
                    <a:solidFill>
                      <a:srgbClr val="F7F9FB"/>
                    </a:solidFill>
                  </a:tcPr>
                </a:tc>
                <a:tc>
                  <a:txBody>
                    <a:bodyPr wrap="square"/>
                    <a:lstStyle/>
                    <a:p>
                      <a:pPr algn="l"/>
                      <a:r>
                        <a:rPr sz="1300" b="0">
                          <a:solidFill>
                            <a:srgbClr val="404040"/>
                          </a:solidFill>
                          <a:latin typeface="Arial"/>
                        </a:rPr>
                        <a:t>Administrador, Docente, Estudiante y Acudiente, con bitácora de auditoría</a:t>
                      </a:r>
                    </a:p>
                  </a:txBody>
                  <a:tcPr marL="54864" marR="54864" marT="18288" marB="18288" anchor="ctr">
                    <a:solidFill>
                      <a:srgbClr val="F7F9FB"/>
                    </a:solidFill>
                  </a:tcPr>
                </a:tc>
              </a:tr>
              <a:tr h="429768">
                <a:tc>
                  <a:txBody>
                    <a:bodyPr wrap="square"/>
                    <a:lstStyle/>
                    <a:p>
                      <a:pPr algn="l"/>
                      <a:r>
                        <a:rPr sz="1300" b="0">
                          <a:solidFill>
                            <a:srgbClr val="404040"/>
                          </a:solidFill>
                          <a:latin typeface="Arial"/>
                        </a:rPr>
                        <a:t>Documentación</a:t>
                      </a:r>
                    </a:p>
                  </a:txBody>
                  <a:tcPr marL="54864" marR="54864" marT="18288" marB="18288" anchor="ctr">
                    <a:solidFill>
                      <a:srgbClr val="FFFFFF"/>
                    </a:solidFill>
                  </a:tcPr>
                </a:tc>
                <a:tc>
                  <a:txBody>
                    <a:bodyPr wrap="square"/>
                    <a:lstStyle/>
                    <a:p>
                      <a:pPr algn="l"/>
                      <a:r>
                        <a:rPr sz="1300" b="0">
                          <a:solidFill>
                            <a:srgbClr val="404040"/>
                          </a:solidFill>
                          <a:latin typeface="Arial"/>
                        </a:rPr>
                        <a:t>Manual de uso por rol y videos tutoriales</a:t>
                      </a:r>
                    </a:p>
                  </a:txBody>
                  <a:tcPr marL="54864" marR="54864" marT="18288" marB="18288" anchor="ctr">
                    <a:solidFill>
                      <a:srgbClr val="FFFFFF"/>
                    </a:solidFill>
                  </a:tcPr>
                </a:tc>
              </a:tr>
              <a:tr h="429768">
                <a:tc>
                  <a:txBody>
                    <a:bodyPr wrap="square"/>
                    <a:lstStyle/>
                    <a:p>
                      <a:pPr algn="l"/>
                      <a:r>
                        <a:rPr sz="1300" b="0">
                          <a:solidFill>
                            <a:srgbClr val="404040"/>
                          </a:solidFill>
                          <a:latin typeface="Arial"/>
                        </a:rPr>
                        <a:t>Garantía</a:t>
                      </a:r>
                    </a:p>
                  </a:txBody>
                  <a:tcPr marL="54864" marR="54864" marT="18288" marB="18288" anchor="ctr">
                    <a:solidFill>
                      <a:srgbClr val="F7F9FB"/>
                    </a:solidFill>
                  </a:tcPr>
                </a:tc>
                <a:tc>
                  <a:txBody>
                    <a:bodyPr wrap="square"/>
                    <a:lstStyle/>
                    <a:p>
                      <a:pPr algn="l"/>
                      <a:r>
                        <a:rPr sz="1300" b="0">
                          <a:solidFill>
                            <a:srgbClr val="404040"/>
                          </a:solidFill>
                          <a:latin typeface="Arial"/>
                        </a:rPr>
                        <a:t>6 meses sobre defectos de software, sin costo</a:t>
                      </a:r>
                    </a:p>
                  </a:txBody>
                  <a:tcPr marL="54864" marR="54864" marT="18288" marB="18288" anchor="ctr">
                    <a:solidFill>
                      <a:srgbClr val="F7F9FB"/>
                    </a:solidFill>
                  </a:tcPr>
                </a:tc>
              </a:tr>
              <a:tr h="429768">
                <a:tc>
                  <a:txBody>
                    <a:bodyPr wrap="square"/>
                    <a:lstStyle/>
                    <a:p>
                      <a:pPr algn="l"/>
                      <a:r>
                        <a:rPr sz="1300" b="0">
                          <a:solidFill>
                            <a:srgbClr val="404040"/>
                          </a:solidFill>
                          <a:latin typeface="Arial"/>
                        </a:rPr>
                        <a:t>Soporte</a:t>
                      </a:r>
                    </a:p>
                  </a:txBody>
                  <a:tcPr marL="54864" marR="54864" marT="18288" marB="18288" anchor="ctr">
                    <a:solidFill>
                      <a:srgbClr val="FFFFFF"/>
                    </a:solidFill>
                  </a:tcPr>
                </a:tc>
                <a:tc>
                  <a:txBody>
                    <a:bodyPr wrap="square"/>
                    <a:lstStyle/>
                    <a:p>
                      <a:pPr algn="l"/>
                      <a:r>
                        <a:rPr sz="1300" b="0">
                          <a:solidFill>
                            <a:srgbClr val="404040"/>
                          </a:solidFill>
                          <a:latin typeface="Arial"/>
                        </a:rPr>
                        <a:t>Correo, mensajería y teléfono, de lunes a viernes. Tiempo de respuesta máximo: 4 horas hábiles</a:t>
                      </a:r>
                    </a:p>
                  </a:txBody>
                  <a:tcPr marL="54864" marR="54864" marT="18288" marB="18288" anchor="ctr">
                    <a:solidFill>
                      <a:srgbClr val="FFFFFF"/>
                    </a:solidFill>
                  </a:tcPr>
                </a:tc>
              </a:tr>
            </a:tbl>
          </a:graphicData>
        </a:graphic>
      </p:graphicFrame>
      <p:sp>
        <p:nvSpPr>
          <p:cNvPr id="5" name="TextBox 4"/>
          <p:cNvSpPr txBox="1"/>
          <p:nvPr/>
        </p:nvSpPr>
        <p:spPr>
          <a:xfrm>
            <a:off x="411480" y="5349240"/>
            <a:ext cx="11384280" cy="822960"/>
          </a:xfrm>
          <a:prstGeom prst="rect">
            <a:avLst/>
          </a:prstGeom>
          <a:noFill/>
        </p:spPr>
        <p:txBody>
          <a:bodyPr wrap="square" lIns="0" rIns="0">
            <a:spAutoFit/>
          </a:bodyPr>
          <a:lstStyle/>
          <a:p>
            <a:pPr algn="l">
              <a:spcBef>
                <a:spcPts val="0"/>
              </a:spcBef>
              <a:spcAft>
                <a:spcPts val="0"/>
              </a:spcAft>
            </a:pPr>
            <a:r>
              <a:rPr sz="1400" b="1" i="0">
                <a:solidFill>
                  <a:srgbClr val="1F4E79"/>
                </a:solidFill>
                <a:latin typeface="Arial"/>
              </a:rPr>
              <a:t>Fortalezas frente a la competencia:  integra académico y contable  ·  aplica solo las reglas del Ministerio  ·  boletines y certificados automáticos  ·  sin licencias.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3.4.2  ESTRATEGIAS DE PRECIO</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Precios</a:t>
            </a:r>
          </a:p>
        </p:txBody>
      </p:sp>
      <p:graphicFrame>
        <p:nvGraphicFramePr>
          <p:cNvPr id="4" name="Table 3"/>
          <p:cNvGraphicFramePr>
            <a:graphicFrameLocks noGrp="1"/>
          </p:cNvGraphicFramePr>
          <p:nvPr/>
        </p:nvGraphicFramePr>
        <p:xfrm>
          <a:off x="411480" y="1554480"/>
          <a:ext cx="11384278" cy="1883664"/>
        </p:xfrm>
        <a:graphic>
          <a:graphicData uri="http://schemas.openxmlformats.org/drawingml/2006/table">
            <a:tbl>
              <a:tblPr firstRow="1" bandRow="1">
                <a:tableStyleId>{5C22544A-7EE6-4342-B048-85BDC9FD1C3A}</a:tableStyleId>
              </a:tblPr>
              <a:tblGrid>
                <a:gridCol w="1357758"/>
                <a:gridCol w="1984415"/>
                <a:gridCol w="1775529"/>
                <a:gridCol w="6266576"/>
              </a:tblGrid>
              <a:tr h="512064">
                <a:tc>
                  <a:txBody>
                    <a:bodyPr wrap="square"/>
                    <a:lstStyle/>
                    <a:p>
                      <a:pPr algn="l"/>
                      <a:r>
                        <a:rPr sz="1300" b="1">
                          <a:solidFill>
                            <a:srgbClr val="FFFFFF"/>
                          </a:solidFill>
                          <a:latin typeface="Arial"/>
                        </a:rPr>
                        <a:t>Plan</a:t>
                      </a:r>
                    </a:p>
                  </a:txBody>
                  <a:tcPr marL="54864" marR="54864" marT="18288" marB="18288" anchor="ctr">
                    <a:solidFill>
                      <a:srgbClr val="1F4E79"/>
                    </a:solidFill>
                  </a:tcPr>
                </a:tc>
                <a:tc>
                  <a:txBody>
                    <a:bodyPr wrap="square"/>
                    <a:lstStyle/>
                    <a:p>
                      <a:pPr algn="l"/>
                      <a:r>
                        <a:rPr sz="1300" b="1">
                          <a:solidFill>
                            <a:srgbClr val="FFFFFF"/>
                          </a:solidFill>
                          <a:latin typeface="Arial"/>
                        </a:rPr>
                        <a:t>Estudiantes</a:t>
                      </a:r>
                    </a:p>
                  </a:txBody>
                  <a:tcPr marL="54864" marR="54864" marT="18288" marB="18288" anchor="ctr">
                    <a:solidFill>
                      <a:srgbClr val="1F4E79"/>
                    </a:solidFill>
                  </a:tcPr>
                </a:tc>
                <a:tc>
                  <a:txBody>
                    <a:bodyPr wrap="square"/>
                    <a:lstStyle/>
                    <a:p>
                      <a:pPr algn="l"/>
                      <a:r>
                        <a:rPr sz="1300" b="1">
                          <a:solidFill>
                            <a:srgbClr val="FFFFFF"/>
                          </a:solidFill>
                          <a:latin typeface="Arial"/>
                        </a:rPr>
                        <a:t>Precio anual</a:t>
                      </a:r>
                    </a:p>
                  </a:txBody>
                  <a:tcPr marL="54864" marR="54864" marT="18288" marB="18288" anchor="ctr">
                    <a:solidFill>
                      <a:srgbClr val="1F4E79"/>
                    </a:solidFill>
                  </a:tcPr>
                </a:tc>
                <a:tc>
                  <a:txBody>
                    <a:bodyPr wrap="square"/>
                    <a:lstStyle/>
                    <a:p>
                      <a:pPr algn="l"/>
                      <a:r>
                        <a:rPr sz="1300" b="1">
                          <a:solidFill>
                            <a:srgbClr val="FFFFFF"/>
                          </a:solidFill>
                          <a:latin typeface="Arial"/>
                        </a:rPr>
                        <a:t>Qué incluye</a:t>
                      </a:r>
                    </a:p>
                  </a:txBody>
                  <a:tcPr marL="54864" marR="54864" marT="18288" marB="18288" anchor="ctr">
                    <a:solidFill>
                      <a:srgbClr val="1F4E79"/>
                    </a:solidFill>
                  </a:tcPr>
                </a:tc>
              </a:tr>
              <a:tr h="457200">
                <a:tc>
                  <a:txBody>
                    <a:bodyPr wrap="square"/>
                    <a:lstStyle/>
                    <a:p>
                      <a:pPr algn="l"/>
                      <a:r>
                        <a:rPr sz="1300" b="0">
                          <a:solidFill>
                            <a:srgbClr val="404040"/>
                          </a:solidFill>
                          <a:latin typeface="Arial"/>
                        </a:rPr>
                        <a:t>Básico</a:t>
                      </a:r>
                    </a:p>
                  </a:txBody>
                  <a:tcPr marL="54864" marR="54864" marT="18288" marB="18288" anchor="ctr">
                    <a:solidFill>
                      <a:srgbClr val="FFFFFF"/>
                    </a:solidFill>
                  </a:tcPr>
                </a:tc>
                <a:tc>
                  <a:txBody>
                    <a:bodyPr wrap="square"/>
                    <a:lstStyle/>
                    <a:p>
                      <a:pPr algn="l"/>
                      <a:r>
                        <a:rPr sz="1300" b="0">
                          <a:solidFill>
                            <a:srgbClr val="404040"/>
                          </a:solidFill>
                          <a:latin typeface="Arial"/>
                        </a:rPr>
                        <a:t>Hasta 300</a:t>
                      </a:r>
                    </a:p>
                  </a:txBody>
                  <a:tcPr marL="54864" marR="54864" marT="18288" marB="18288" anchor="ctr">
                    <a:solidFill>
                      <a:srgbClr val="FFFFFF"/>
                    </a:solidFill>
                  </a:tcPr>
                </a:tc>
                <a:tc>
                  <a:txBody>
                    <a:bodyPr wrap="square"/>
                    <a:lstStyle/>
                    <a:p>
                      <a:pPr algn="l"/>
                      <a:r>
                        <a:rPr sz="1300" b="0">
                          <a:solidFill>
                            <a:srgbClr val="404040"/>
                          </a:solidFill>
                          <a:latin typeface="Arial"/>
                        </a:rPr>
                        <a:t>$1.200.000</a:t>
                      </a:r>
                    </a:p>
                  </a:txBody>
                  <a:tcPr marL="54864" marR="54864" marT="18288" marB="18288" anchor="ctr">
                    <a:solidFill>
                      <a:srgbClr val="FFFFFF"/>
                    </a:solidFill>
                  </a:tcPr>
                </a:tc>
                <a:tc>
                  <a:txBody>
                    <a:bodyPr wrap="square"/>
                    <a:lstStyle/>
                    <a:p>
                      <a:pPr algn="l"/>
                      <a:r>
                        <a:rPr sz="1300" b="0">
                          <a:solidFill>
                            <a:srgbClr val="404040"/>
                          </a:solidFill>
                          <a:latin typeface="Arial"/>
                        </a:rPr>
                        <a:t>Licencia de los 4 roles, hospedaje, soporte, actualizaciones y capacitación</a:t>
                      </a:r>
                    </a:p>
                  </a:txBody>
                  <a:tcPr marL="54864" marR="54864" marT="18288" marB="18288" anchor="ctr">
                    <a:solidFill>
                      <a:srgbClr val="FFFFFF"/>
                    </a:solidFill>
                  </a:tcPr>
                </a:tc>
              </a:tr>
              <a:tr h="457200">
                <a:tc>
                  <a:txBody>
                    <a:bodyPr wrap="square"/>
                    <a:lstStyle/>
                    <a:p>
                      <a:pPr algn="l"/>
                      <a:r>
                        <a:rPr sz="1300" b="0">
                          <a:solidFill>
                            <a:srgbClr val="404040"/>
                          </a:solidFill>
                          <a:latin typeface="Arial"/>
                        </a:rPr>
                        <a:t>Intermedio</a:t>
                      </a:r>
                    </a:p>
                  </a:txBody>
                  <a:tcPr marL="54864" marR="54864" marT="18288" marB="18288" anchor="ctr">
                    <a:solidFill>
                      <a:srgbClr val="F7F9FB"/>
                    </a:solidFill>
                  </a:tcPr>
                </a:tc>
                <a:tc>
                  <a:txBody>
                    <a:bodyPr wrap="square"/>
                    <a:lstStyle/>
                    <a:p>
                      <a:pPr algn="l"/>
                      <a:r>
                        <a:rPr sz="1300" b="0">
                          <a:solidFill>
                            <a:srgbClr val="404040"/>
                          </a:solidFill>
                          <a:latin typeface="Arial"/>
                        </a:rPr>
                        <a:t>301 a 800</a:t>
                      </a:r>
                    </a:p>
                  </a:txBody>
                  <a:tcPr marL="54864" marR="54864" marT="18288" marB="18288" anchor="ctr">
                    <a:solidFill>
                      <a:srgbClr val="F7F9FB"/>
                    </a:solidFill>
                  </a:tcPr>
                </a:tc>
                <a:tc>
                  <a:txBody>
                    <a:bodyPr wrap="square"/>
                    <a:lstStyle/>
                    <a:p>
                      <a:pPr algn="l"/>
                      <a:r>
                        <a:rPr sz="1300" b="0">
                          <a:solidFill>
                            <a:srgbClr val="404040"/>
                          </a:solidFill>
                          <a:latin typeface="Arial"/>
                        </a:rPr>
                        <a:t>$2.600.000</a:t>
                      </a:r>
                    </a:p>
                  </a:txBody>
                  <a:tcPr marL="54864" marR="54864" marT="18288" marB="18288" anchor="ctr">
                    <a:solidFill>
                      <a:srgbClr val="F7F9FB"/>
                    </a:solidFill>
                  </a:tcPr>
                </a:tc>
                <a:tc>
                  <a:txBody>
                    <a:bodyPr wrap="square"/>
                    <a:lstStyle/>
                    <a:p>
                      <a:pPr algn="l"/>
                      <a:r>
                        <a:rPr sz="1300" b="0">
                          <a:solidFill>
                            <a:srgbClr val="404040"/>
                          </a:solidFill>
                          <a:latin typeface="Arial"/>
                        </a:rPr>
                        <a:t>Todo lo del plan Básico</a:t>
                      </a:r>
                    </a:p>
                  </a:txBody>
                  <a:tcPr marL="54864" marR="54864" marT="18288" marB="18288" anchor="ctr">
                    <a:solidFill>
                      <a:srgbClr val="F7F9FB"/>
                    </a:solidFill>
                  </a:tcPr>
                </a:tc>
              </a:tr>
              <a:tr h="457200">
                <a:tc>
                  <a:txBody>
                    <a:bodyPr wrap="square"/>
                    <a:lstStyle/>
                    <a:p>
                      <a:pPr algn="l"/>
                      <a:r>
                        <a:rPr sz="1300" b="0">
                          <a:solidFill>
                            <a:srgbClr val="404040"/>
                          </a:solidFill>
                          <a:latin typeface="Arial"/>
                        </a:rPr>
                        <a:t>Superior</a:t>
                      </a:r>
                    </a:p>
                  </a:txBody>
                  <a:tcPr marL="54864" marR="54864" marT="18288" marB="18288" anchor="ctr">
                    <a:solidFill>
                      <a:srgbClr val="FFFFFF"/>
                    </a:solidFill>
                  </a:tcPr>
                </a:tc>
                <a:tc>
                  <a:txBody>
                    <a:bodyPr wrap="square"/>
                    <a:lstStyle/>
                    <a:p>
                      <a:pPr algn="l"/>
                      <a:r>
                        <a:rPr sz="1300" b="0">
                          <a:solidFill>
                            <a:srgbClr val="404040"/>
                          </a:solidFill>
                          <a:latin typeface="Arial"/>
                        </a:rPr>
                        <a:t>801 a 1.500 o con varias sedes</a:t>
                      </a:r>
                    </a:p>
                  </a:txBody>
                  <a:tcPr marL="54864" marR="54864" marT="18288" marB="18288" anchor="ctr">
                    <a:solidFill>
                      <a:srgbClr val="FFFFFF"/>
                    </a:solidFill>
                  </a:tcPr>
                </a:tc>
                <a:tc>
                  <a:txBody>
                    <a:bodyPr wrap="square"/>
                    <a:lstStyle/>
                    <a:p>
                      <a:pPr algn="l"/>
                      <a:r>
                        <a:rPr sz="1300" b="0">
                          <a:solidFill>
                            <a:srgbClr val="404040"/>
                          </a:solidFill>
                          <a:latin typeface="Arial"/>
                        </a:rPr>
                        <a:t>$4.800.000</a:t>
                      </a:r>
                    </a:p>
                  </a:txBody>
                  <a:tcPr marL="54864" marR="54864" marT="18288" marB="18288" anchor="ctr">
                    <a:solidFill>
                      <a:srgbClr val="FFFFFF"/>
                    </a:solidFill>
                  </a:tcPr>
                </a:tc>
                <a:tc>
                  <a:txBody>
                    <a:bodyPr wrap="square"/>
                    <a:lstStyle/>
                    <a:p>
                      <a:pPr algn="l"/>
                      <a:r>
                        <a:rPr sz="1300" b="0">
                          <a:solidFill>
                            <a:srgbClr val="404040"/>
                          </a:solidFill>
                          <a:latin typeface="Arial"/>
                        </a:rPr>
                        <a:t>Todo lo del plan Intermedio</a:t>
                      </a:r>
                    </a:p>
                  </a:txBody>
                  <a:tcPr marL="54864" marR="54864" marT="18288" marB="18288" anchor="ctr">
                    <a:solidFill>
                      <a:srgbClr val="FFFFFF"/>
                    </a:solidFill>
                  </a:tcPr>
                </a:tc>
              </a:tr>
            </a:tbl>
          </a:graphicData>
        </a:graphic>
      </p:graphicFrame>
      <p:sp>
        <p:nvSpPr>
          <p:cNvPr id="5" name="Rectangle 4"/>
          <p:cNvSpPr/>
          <p:nvPr/>
        </p:nvSpPr>
        <p:spPr>
          <a:xfrm>
            <a:off x="411480" y="3611880"/>
            <a:ext cx="11384280" cy="914400"/>
          </a:xfrm>
          <a:prstGeom prst="rect">
            <a:avLst/>
          </a:prstGeom>
          <a:solidFill>
            <a:srgbClr val="F7F9FB"/>
          </a:solidFill>
          <a:ln w="15875">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B03030"/>
                </a:solidFill>
                <a:latin typeface="Arial"/>
              </a:rPr>
              <a:t>Implementación y migración de datos:  $3.500.000  (pago único, obligatorio)</a:t>
            </a:r>
          </a:p>
        </p:txBody>
      </p:sp>
      <p:sp>
        <p:nvSpPr>
          <p:cNvPr id="6" name="TextBox 5"/>
          <p:cNvSpPr txBox="1"/>
          <p:nvPr/>
        </p:nvSpPr>
        <p:spPr>
          <a:xfrm>
            <a:off x="411480" y="4754880"/>
            <a:ext cx="11384280" cy="1463040"/>
          </a:xfrm>
          <a:prstGeom prst="rect">
            <a:avLst/>
          </a:prstGeom>
          <a:noFill/>
        </p:spPr>
        <p:txBody>
          <a:bodyPr wrap="square" lIns="0" rIns="0">
            <a:spAutoFit/>
          </a:bodyPr>
          <a:lstStyle/>
          <a:p>
            <a:pPr algn="l">
              <a:spcBef>
                <a:spcPts val="0"/>
              </a:spcBef>
              <a:spcAft>
                <a:spcPts val="600"/>
              </a:spcAft>
            </a:pPr>
            <a:r>
              <a:rPr sz="1400" b="1" i="0">
                <a:solidFill>
                  <a:srgbClr val="1F4E79"/>
                </a:solidFill>
                <a:latin typeface="Arial"/>
              </a:rPr>
              <a:t>DECISIÓN CENTRAL:  se cobra por INSTITUCIÓN, no por estudiante</a:t>
            </a:r>
          </a:p>
          <a:p>
            <a:pPr algn="l">
              <a:spcBef>
                <a:spcPts val="0"/>
              </a:spcBef>
              <a:spcAft>
                <a:spcPts val="0"/>
              </a:spcAft>
            </a:pPr>
            <a:r>
              <a:rPr sz="1350" b="0" i="0">
                <a:solidFill>
                  <a:srgbClr val="404040"/>
                </a:solidFill>
                <a:latin typeface="Arial"/>
              </a:rPr>
              <a:t>La mayoría del mercado cobra por estudiante: la factura se vuelve impredecible para un colegio en crecimiento. Un precio fijo por institución: el colegio sabe lo que paga, aunque crezca.   ·   Pago: 50 % al firmar, 50 % contra entrega; 5 % de descuento si paga el año completo.   ·   Prueba de 30 días incluida.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3.4.4  ECONOMÍA UNITARIA</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La economía de UN colegio</a:t>
            </a:r>
          </a:p>
        </p:txBody>
      </p:sp>
      <p:sp>
        <p:nvSpPr>
          <p:cNvPr id="4" name="TextBox 3"/>
          <p:cNvSpPr txBox="1"/>
          <p:nvPr/>
        </p:nvSpPr>
        <p:spPr>
          <a:xfrm>
            <a:off x="411480" y="1481328"/>
            <a:ext cx="11384280" cy="365760"/>
          </a:xfrm>
          <a:prstGeom prst="rect">
            <a:avLst/>
          </a:prstGeom>
          <a:noFill/>
        </p:spPr>
        <p:txBody>
          <a:bodyPr wrap="square" lIns="0" rIns="0">
            <a:spAutoFit/>
          </a:bodyPr>
          <a:lstStyle/>
          <a:p>
            <a:pPr algn="l">
              <a:spcBef>
                <a:spcPts val="0"/>
              </a:spcBef>
              <a:spcAft>
                <a:spcPts val="600"/>
              </a:spcAft>
            </a:pPr>
            <a:r>
              <a:rPr sz="1400" b="0" i="0">
                <a:solidFill>
                  <a:srgbClr val="404040"/>
                </a:solidFill>
                <a:latin typeface="Arial"/>
              </a:rPr>
              <a:t>Plan Básico, colegio de 300 estudiantes. Toda la proyección se construye sobre esta unidad.</a:t>
            </a:r>
          </a:p>
        </p:txBody>
      </p:sp>
      <p:graphicFrame>
        <p:nvGraphicFramePr>
          <p:cNvPr id="5" name="Table 4"/>
          <p:cNvGraphicFramePr>
            <a:graphicFrameLocks noGrp="1"/>
          </p:cNvGraphicFramePr>
          <p:nvPr/>
        </p:nvGraphicFramePr>
        <p:xfrm>
          <a:off x="411480" y="1920240"/>
          <a:ext cx="6949440" cy="2871216"/>
        </p:xfrm>
        <a:graphic>
          <a:graphicData uri="http://schemas.openxmlformats.org/drawingml/2006/table">
            <a:tbl>
              <a:tblPr firstRow="1" bandRow="1">
                <a:tableStyleId>{5C22544A-7EE6-4342-B048-85BDC9FD1C3A}</a:tableStyleId>
              </a:tblPr>
              <a:tblGrid>
                <a:gridCol w="3706368"/>
                <a:gridCol w="1621536"/>
                <a:gridCol w="1621536"/>
              </a:tblGrid>
              <a:tr h="457200">
                <a:tc>
                  <a:txBody>
                    <a:bodyPr wrap="square"/>
                    <a:lstStyle/>
                    <a:p>
                      <a:pPr algn="l"/>
                      <a:r>
                        <a:rPr sz="1250" b="1">
                          <a:solidFill>
                            <a:srgbClr val="FFFFFF"/>
                          </a:solidFill>
                          <a:latin typeface="Arial"/>
                        </a:rPr>
                        <a:t>Concepto</a:t>
                      </a:r>
                    </a:p>
                  </a:txBody>
                  <a:tcPr marL="54864" marR="54864" marT="18288" marB="18288" anchor="ctr">
                    <a:solidFill>
                      <a:srgbClr val="1F4E79"/>
                    </a:solidFill>
                  </a:tcPr>
                </a:tc>
                <a:tc>
                  <a:txBody>
                    <a:bodyPr wrap="square"/>
                    <a:lstStyle/>
                    <a:p>
                      <a:pPr algn="r"/>
                      <a:r>
                        <a:rPr sz="1250" b="1">
                          <a:solidFill>
                            <a:srgbClr val="FFFFFF"/>
                          </a:solidFill>
                          <a:latin typeface="Arial"/>
                        </a:rPr>
                        <a:t>Año 1</a:t>
                      </a:r>
                    </a:p>
                  </a:txBody>
                  <a:tcPr marL="54864" marR="54864" marT="18288" marB="18288" anchor="ctr">
                    <a:solidFill>
                      <a:srgbClr val="1F4E79"/>
                    </a:solidFill>
                  </a:tcPr>
                </a:tc>
                <a:tc>
                  <a:txBody>
                    <a:bodyPr wrap="square"/>
                    <a:lstStyle/>
                    <a:p>
                      <a:pPr algn="r"/>
                      <a:r>
                        <a:rPr sz="1250" b="1">
                          <a:solidFill>
                            <a:srgbClr val="FFFFFF"/>
                          </a:solidFill>
                          <a:latin typeface="Arial"/>
                        </a:rPr>
                        <a:t>Año 2</a:t>
                      </a:r>
                    </a:p>
                  </a:txBody>
                  <a:tcPr marL="54864" marR="54864" marT="18288" marB="18288" anchor="ctr">
                    <a:solidFill>
                      <a:srgbClr val="1F4E79"/>
                    </a:solidFill>
                  </a:tcPr>
                </a:tc>
              </a:tr>
              <a:tr h="402336">
                <a:tc>
                  <a:txBody>
                    <a:bodyPr wrap="square"/>
                    <a:lstStyle/>
                    <a:p>
                      <a:pPr algn="l"/>
                      <a:r>
                        <a:rPr sz="1250" b="0">
                          <a:solidFill>
                            <a:srgbClr val="404040"/>
                          </a:solidFill>
                          <a:latin typeface="Arial"/>
                        </a:rPr>
                        <a:t>Suscripción anual</a:t>
                      </a:r>
                    </a:p>
                  </a:txBody>
                  <a:tcPr marL="54864" marR="54864" marT="18288" marB="18288" anchor="ctr">
                    <a:solidFill>
                      <a:srgbClr val="FFFFFF"/>
                    </a:solidFill>
                  </a:tcPr>
                </a:tc>
                <a:tc>
                  <a:txBody>
                    <a:bodyPr wrap="square"/>
                    <a:lstStyle/>
                    <a:p>
                      <a:pPr algn="r"/>
                      <a:r>
                        <a:rPr sz="1250" b="0">
                          <a:solidFill>
                            <a:srgbClr val="404040"/>
                          </a:solidFill>
                          <a:latin typeface="Arial"/>
                        </a:rPr>
                        <a:t>$1.200.000</a:t>
                      </a:r>
                    </a:p>
                  </a:txBody>
                  <a:tcPr marL="54864" marR="54864" marT="18288" marB="18288" anchor="ctr">
                    <a:solidFill>
                      <a:srgbClr val="FFFFFF"/>
                    </a:solidFill>
                  </a:tcPr>
                </a:tc>
                <a:tc>
                  <a:txBody>
                    <a:bodyPr wrap="square"/>
                    <a:lstStyle/>
                    <a:p>
                      <a:pPr algn="r"/>
                      <a:r>
                        <a:rPr sz="1250" b="0">
                          <a:solidFill>
                            <a:srgbClr val="404040"/>
                          </a:solidFill>
                          <a:latin typeface="Arial"/>
                        </a:rPr>
                        <a:t>$1.200.000</a:t>
                      </a:r>
                    </a:p>
                  </a:txBody>
                  <a:tcPr marL="54864" marR="54864" marT="18288" marB="18288" anchor="ctr">
                    <a:solidFill>
                      <a:srgbClr val="FFFFFF"/>
                    </a:solidFill>
                  </a:tcPr>
                </a:tc>
              </a:tr>
              <a:tr h="402336">
                <a:tc>
                  <a:txBody>
                    <a:bodyPr wrap="square"/>
                    <a:lstStyle/>
                    <a:p>
                      <a:pPr algn="l"/>
                      <a:r>
                        <a:rPr sz="1250" b="0">
                          <a:solidFill>
                            <a:srgbClr val="404040"/>
                          </a:solidFill>
                          <a:latin typeface="Arial"/>
                        </a:rPr>
                        <a:t>Implementación (pago único)</a:t>
                      </a:r>
                    </a:p>
                  </a:txBody>
                  <a:tcPr marL="54864" marR="54864" marT="18288" marB="18288" anchor="ctr">
                    <a:solidFill>
                      <a:srgbClr val="F7F9FB"/>
                    </a:solidFill>
                  </a:tcPr>
                </a:tc>
                <a:tc>
                  <a:txBody>
                    <a:bodyPr wrap="square"/>
                    <a:lstStyle/>
                    <a:p>
                      <a:pPr algn="r"/>
                      <a:r>
                        <a:rPr sz="1250" b="0">
                          <a:solidFill>
                            <a:srgbClr val="404040"/>
                          </a:solidFill>
                          <a:latin typeface="Arial"/>
                        </a:rPr>
                        <a:t>$3.500.000</a:t>
                      </a:r>
                    </a:p>
                  </a:txBody>
                  <a:tcPr marL="54864" marR="54864" marT="18288" marB="18288" anchor="ctr">
                    <a:solidFill>
                      <a:srgbClr val="F7F9FB"/>
                    </a:solidFill>
                  </a:tcPr>
                </a:tc>
                <a:tc>
                  <a:txBody>
                    <a:bodyPr wrap="square"/>
                    <a:lstStyle/>
                    <a:p>
                      <a:pPr algn="r"/>
                      <a:r>
                        <a:rPr sz="1250" b="0">
                          <a:solidFill>
                            <a:srgbClr val="404040"/>
                          </a:solidFill>
                          <a:latin typeface="Arial"/>
                        </a:rPr>
                        <a:t>$0</a:t>
                      </a:r>
                    </a:p>
                  </a:txBody>
                  <a:tcPr marL="54864" marR="54864" marT="18288" marB="18288" anchor="ctr">
                    <a:solidFill>
                      <a:srgbClr val="F7F9FB"/>
                    </a:solidFill>
                  </a:tcPr>
                </a:tc>
              </a:tr>
              <a:tr h="402336">
                <a:tc>
                  <a:txBody>
                    <a:bodyPr wrap="square"/>
                    <a:lstStyle/>
                    <a:p>
                      <a:pPr algn="l"/>
                      <a:r>
                        <a:rPr sz="1250" b="0">
                          <a:solidFill>
                            <a:srgbClr val="404040"/>
                          </a:solidFill>
                          <a:latin typeface="Arial"/>
                        </a:rPr>
                        <a:t>Ingreso por un colegio</a:t>
                      </a:r>
                    </a:p>
                  </a:txBody>
                  <a:tcPr marL="54864" marR="54864" marT="18288" marB="18288" anchor="ctr">
                    <a:solidFill>
                      <a:srgbClr val="FFFFFF"/>
                    </a:solidFill>
                  </a:tcPr>
                </a:tc>
                <a:tc>
                  <a:txBody>
                    <a:bodyPr wrap="square"/>
                    <a:lstStyle/>
                    <a:p>
                      <a:pPr algn="r"/>
                      <a:r>
                        <a:rPr sz="1250" b="0">
                          <a:solidFill>
                            <a:srgbClr val="404040"/>
                          </a:solidFill>
                          <a:latin typeface="Arial"/>
                        </a:rPr>
                        <a:t>$4.700.000</a:t>
                      </a:r>
                    </a:p>
                  </a:txBody>
                  <a:tcPr marL="54864" marR="54864" marT="18288" marB="18288" anchor="ctr">
                    <a:solidFill>
                      <a:srgbClr val="FFFFFF"/>
                    </a:solidFill>
                  </a:tcPr>
                </a:tc>
                <a:tc>
                  <a:txBody>
                    <a:bodyPr wrap="square"/>
                    <a:lstStyle/>
                    <a:p>
                      <a:pPr algn="r"/>
                      <a:r>
                        <a:rPr sz="1250" b="0">
                          <a:solidFill>
                            <a:srgbClr val="404040"/>
                          </a:solidFill>
                          <a:latin typeface="Arial"/>
                        </a:rPr>
                        <a:t>$1.200.000</a:t>
                      </a:r>
                    </a:p>
                  </a:txBody>
                  <a:tcPr marL="54864" marR="54864" marT="18288" marB="18288" anchor="ctr">
                    <a:solidFill>
                      <a:srgbClr val="FFFFFF"/>
                    </a:solidFill>
                  </a:tcPr>
                </a:tc>
              </a:tr>
              <a:tr h="402336">
                <a:tc>
                  <a:txBody>
                    <a:bodyPr wrap="square"/>
                    <a:lstStyle/>
                    <a:p>
                      <a:pPr algn="l"/>
                      <a:r>
                        <a:rPr sz="1250" b="0">
                          <a:solidFill>
                            <a:srgbClr val="404040"/>
                          </a:solidFill>
                          <a:latin typeface="Arial"/>
                        </a:rPr>
                        <a:t>Costo variable</a:t>
                      </a:r>
                    </a:p>
                  </a:txBody>
                  <a:tcPr marL="54864" marR="54864" marT="18288" marB="18288" anchor="ctr">
                    <a:solidFill>
                      <a:srgbClr val="F7F9FB"/>
                    </a:solidFill>
                  </a:tcPr>
                </a:tc>
                <a:tc>
                  <a:txBody>
                    <a:bodyPr wrap="square"/>
                    <a:lstStyle/>
                    <a:p>
                      <a:pPr algn="r"/>
                      <a:r>
                        <a:rPr sz="1250" b="0">
                          <a:solidFill>
                            <a:srgbClr val="404040"/>
                          </a:solidFill>
                          <a:latin typeface="Arial"/>
                        </a:rPr>
                        <a:t>−$280.000</a:t>
                      </a:r>
                    </a:p>
                  </a:txBody>
                  <a:tcPr marL="54864" marR="54864" marT="18288" marB="18288" anchor="ctr">
                    <a:solidFill>
                      <a:srgbClr val="F7F9FB"/>
                    </a:solidFill>
                  </a:tcPr>
                </a:tc>
                <a:tc>
                  <a:txBody>
                    <a:bodyPr wrap="square"/>
                    <a:lstStyle/>
                    <a:p>
                      <a:pPr algn="r"/>
                      <a:r>
                        <a:rPr sz="1250" b="0">
                          <a:solidFill>
                            <a:srgbClr val="404040"/>
                          </a:solidFill>
                          <a:latin typeface="Arial"/>
                        </a:rPr>
                        <a:t>−$280.000</a:t>
                      </a:r>
                    </a:p>
                  </a:txBody>
                  <a:tcPr marL="54864" marR="54864" marT="18288" marB="18288" anchor="ctr">
                    <a:solidFill>
                      <a:srgbClr val="F7F9FB"/>
                    </a:solidFill>
                  </a:tcPr>
                </a:tc>
              </a:tr>
              <a:tr h="402336">
                <a:tc>
                  <a:txBody>
                    <a:bodyPr wrap="square"/>
                    <a:lstStyle/>
                    <a:p>
                      <a:pPr algn="l"/>
                      <a:r>
                        <a:rPr sz="1250" b="1">
                          <a:solidFill>
                            <a:srgbClr val="1F4E79"/>
                          </a:solidFill>
                          <a:latin typeface="Arial"/>
                        </a:rPr>
                        <a:t>Margen de contribución</a:t>
                      </a:r>
                    </a:p>
                  </a:txBody>
                  <a:tcPr marL="54864" marR="54864" marT="18288" marB="18288" anchor="ctr">
                    <a:solidFill>
                      <a:srgbClr val="FFFFFF"/>
                    </a:solidFill>
                  </a:tcPr>
                </a:tc>
                <a:tc>
                  <a:txBody>
                    <a:bodyPr wrap="square"/>
                    <a:lstStyle/>
                    <a:p>
                      <a:pPr algn="r"/>
                      <a:r>
                        <a:rPr sz="1250" b="1">
                          <a:solidFill>
                            <a:srgbClr val="1F4E79"/>
                          </a:solidFill>
                          <a:latin typeface="Arial"/>
                        </a:rPr>
                        <a:t>$4.420.000</a:t>
                      </a:r>
                    </a:p>
                  </a:txBody>
                  <a:tcPr marL="54864" marR="54864" marT="18288" marB="18288" anchor="ctr">
                    <a:solidFill>
                      <a:srgbClr val="FFFFFF"/>
                    </a:solidFill>
                  </a:tcPr>
                </a:tc>
                <a:tc>
                  <a:txBody>
                    <a:bodyPr wrap="square"/>
                    <a:lstStyle/>
                    <a:p>
                      <a:pPr algn="r"/>
                      <a:r>
                        <a:rPr sz="1250" b="1">
                          <a:solidFill>
                            <a:srgbClr val="1F4E79"/>
                          </a:solidFill>
                          <a:latin typeface="Arial"/>
                        </a:rPr>
                        <a:t>$920.000</a:t>
                      </a:r>
                    </a:p>
                  </a:txBody>
                  <a:tcPr marL="54864" marR="54864" marT="18288" marB="18288" anchor="ctr">
                    <a:solidFill>
                      <a:srgbClr val="FFFFFF"/>
                    </a:solidFill>
                  </a:tcPr>
                </a:tc>
              </a:tr>
              <a:tr h="402336">
                <a:tc>
                  <a:txBody>
                    <a:bodyPr wrap="square"/>
                    <a:lstStyle/>
                    <a:p>
                      <a:pPr algn="l"/>
                      <a:r>
                        <a:rPr sz="1250" b="0">
                          <a:solidFill>
                            <a:srgbClr val="404040"/>
                          </a:solidFill>
                          <a:latin typeface="Arial"/>
                        </a:rPr>
                        <a:t>Precio medio por alumno al mes</a:t>
                      </a:r>
                    </a:p>
                  </a:txBody>
                  <a:tcPr marL="54864" marR="54864" marT="18288" marB="18288" anchor="ctr">
                    <a:solidFill>
                      <a:srgbClr val="F7F9FB"/>
                    </a:solidFill>
                  </a:tcPr>
                </a:tc>
                <a:tc>
                  <a:txBody>
                    <a:bodyPr wrap="square"/>
                    <a:lstStyle/>
                    <a:p>
                      <a:pPr algn="r"/>
                      <a:r>
                        <a:rPr sz="1250" b="0">
                          <a:solidFill>
                            <a:srgbClr val="404040"/>
                          </a:solidFill>
                          <a:latin typeface="Arial"/>
                        </a:rPr>
                        <a:t>$1.306</a:t>
                      </a:r>
                    </a:p>
                  </a:txBody>
                  <a:tcPr marL="54864" marR="54864" marT="18288" marB="18288" anchor="ctr">
                    <a:solidFill>
                      <a:srgbClr val="F7F9FB"/>
                    </a:solidFill>
                  </a:tcPr>
                </a:tc>
                <a:tc>
                  <a:txBody>
                    <a:bodyPr wrap="square"/>
                    <a:lstStyle/>
                    <a:p>
                      <a:pPr algn="r"/>
                      <a:r>
                        <a:rPr sz="1250" b="0">
                          <a:solidFill>
                            <a:srgbClr val="404040"/>
                          </a:solidFill>
                          <a:latin typeface="Arial"/>
                        </a:rPr>
                        <a:t>$333</a:t>
                      </a:r>
                    </a:p>
                  </a:txBody>
                  <a:tcPr marL="54864" marR="54864" marT="18288" marB="18288" anchor="ctr">
                    <a:solidFill>
                      <a:srgbClr val="F7F9FB"/>
                    </a:solidFill>
                  </a:tcPr>
                </a:tc>
              </a:tr>
            </a:tbl>
          </a:graphicData>
        </a:graphic>
      </p:graphicFrame>
      <p:sp>
        <p:nvSpPr>
          <p:cNvPr id="6" name="Rectangle 5"/>
          <p:cNvSpPr/>
          <p:nvPr/>
        </p:nvSpPr>
        <p:spPr>
          <a:xfrm>
            <a:off x="7635240" y="1920240"/>
            <a:ext cx="4160520" cy="1417320"/>
          </a:xfrm>
          <a:prstGeom prst="rect">
            <a:avLst/>
          </a:prstGeom>
          <a:solidFill>
            <a:srgbClr val="F7F9FB"/>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1F4E79"/>
                </a:solidFill>
                <a:latin typeface="Arial"/>
              </a:rPr>
              <a:t>LO QUE PAGA EL COLEGIO</a:t>
            </a:r>
          </a:p>
          <a:p>
            <a:pPr algn="l">
              <a:spcBef>
                <a:spcPts val="0"/>
              </a:spcBef>
              <a:spcAft>
                <a:spcPts val="600"/>
              </a:spcAft>
            </a:pPr>
            <a:r>
              <a:rPr sz="1300" b="0" i="0">
                <a:solidFill>
                  <a:srgbClr val="404040"/>
                </a:solidFill>
                <a:latin typeface="Arial"/>
              </a:rPr>
              <a:t>$333 por alumno al mes. Equivale a uno o dos meses del salario de un auxiliar administrativo, y el sistema libera entre 40 y 60 horas mensuales de trabajo de secretaría.</a:t>
            </a:r>
          </a:p>
        </p:txBody>
      </p:sp>
      <p:sp>
        <p:nvSpPr>
          <p:cNvPr id="7" name="Rectangle 6"/>
          <p:cNvSpPr/>
          <p:nvPr/>
        </p:nvSpPr>
        <p:spPr>
          <a:xfrm>
            <a:off x="7635240" y="3474720"/>
            <a:ext cx="4160520" cy="1463040"/>
          </a:xfrm>
          <a:prstGeom prst="rect">
            <a:avLst/>
          </a:prstGeom>
          <a:solidFill>
            <a:srgbClr val="F7F9FB"/>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2E7D32"/>
                </a:solidFill>
                <a:latin typeface="Arial"/>
              </a:rPr>
              <a:t>EL MARGEN PARA NOSOTROS</a:t>
            </a:r>
          </a:p>
          <a:p>
            <a:pPr algn="l">
              <a:spcBef>
                <a:spcPts val="0"/>
              </a:spcBef>
              <a:spcAft>
                <a:spcPts val="600"/>
              </a:spcAft>
            </a:pPr>
            <a:r>
              <a:rPr sz="1300" b="0" i="0">
                <a:solidFill>
                  <a:srgbClr val="404040"/>
                </a:solidFill>
                <a:latin typeface="Arial"/>
              </a:rPr>
              <a:t>Margen de contribución del 94 % sobre el ingreso. Sin licencias de software: el costo depende del servicio, no del volumen.</a:t>
            </a:r>
          </a:p>
        </p:txBody>
      </p:sp>
      <p:sp>
        <p:nvSpPr>
          <p:cNvPr id="8" name="Rectangle 7"/>
          <p:cNvSpPr/>
          <p:nvPr/>
        </p:nvSpPr>
        <p:spPr>
          <a:xfrm>
            <a:off x="411480" y="5120640"/>
            <a:ext cx="11384280" cy="1051560"/>
          </a:xfrm>
          <a:prstGeom prst="rect">
            <a:avLst/>
          </a:prstGeom>
          <a:solidFill>
            <a:srgbClr val="F7F9FB"/>
          </a:solidFill>
          <a:ln w="15875">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B03030"/>
                </a:solidFill>
                <a:latin typeface="Arial"/>
              </a:rPr>
              <a:t>EL PUNTO MÁS IMPORTANTE DE ESTA TABLA</a:t>
            </a:r>
          </a:p>
          <a:p>
            <a:pPr algn="l">
              <a:spcBef>
                <a:spcPts val="0"/>
              </a:spcBef>
              <a:spcAft>
                <a:spcPts val="600"/>
              </a:spcAft>
            </a:pPr>
            <a:r>
              <a:rPr sz="1350" b="0" i="0">
                <a:solidFill>
                  <a:srgbClr val="404040"/>
                </a:solidFill>
                <a:latin typeface="Arial"/>
              </a:rPr>
              <a:t>El margen de un colegio cae de $4.420.000 en el año 1 a $920.000 en el año 2, porque la implementación se cobra una sola vez. Casi tres cuartas partes del ingreso del primer año se concentran en ese primer contrato.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3.4  ESTRATEGIAS DE MERCADO</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Presupuesto de mezcla de mercado  ·  $15.690.000 al año</a:t>
            </a:r>
          </a:p>
        </p:txBody>
      </p:sp>
      <p:graphicFrame>
        <p:nvGraphicFramePr>
          <p:cNvPr id="4" name="Table 3"/>
          <p:cNvGraphicFramePr>
            <a:graphicFrameLocks noGrp="1"/>
          </p:cNvGraphicFramePr>
          <p:nvPr/>
        </p:nvGraphicFramePr>
        <p:xfrm>
          <a:off x="411480" y="1600200"/>
          <a:ext cx="11384279" cy="3712464"/>
        </p:xfrm>
        <a:graphic>
          <a:graphicData uri="http://schemas.openxmlformats.org/drawingml/2006/table">
            <a:tbl>
              <a:tblPr firstRow="1" bandRow="1">
                <a:tableStyleId>{5C22544A-7EE6-4342-B048-85BDC9FD1C3A}</a:tableStyleId>
              </a:tblPr>
              <a:tblGrid>
                <a:gridCol w="2015966"/>
                <a:gridCol w="7708106"/>
                <a:gridCol w="1660207"/>
              </a:tblGrid>
              <a:tr h="969264">
                <a:tc>
                  <a:txBody>
                    <a:bodyPr wrap="square"/>
                    <a:lstStyle/>
                    <a:p>
                      <a:pPr algn="l"/>
                      <a:r>
                        <a:rPr sz="1250" b="1">
                          <a:solidFill>
                            <a:srgbClr val="FFFFFF"/>
                          </a:solidFill>
                          <a:latin typeface="Arial"/>
                        </a:rPr>
                        <a:t>Canal</a:t>
                      </a:r>
                    </a:p>
                  </a:txBody>
                  <a:tcPr marL="54864" marR="54864" marT="18288" marB="18288" anchor="ctr">
                    <a:solidFill>
                      <a:srgbClr val="1F4E79"/>
                    </a:solidFill>
                  </a:tcPr>
                </a:tc>
                <a:tc>
                  <a:txBody>
                    <a:bodyPr wrap="square"/>
                    <a:lstStyle/>
                    <a:p>
                      <a:pPr algn="l"/>
                      <a:r>
                        <a:rPr sz="1250" b="1">
                          <a:solidFill>
                            <a:srgbClr val="FFFFFF"/>
                          </a:solidFill>
                          <a:latin typeface="Arial"/>
                        </a:rPr>
                        <a:t>Por qué</a:t>
                      </a:r>
                    </a:p>
                  </a:txBody>
                  <a:tcPr marL="54864" marR="54864" marT="18288" marB="18288" anchor="ctr">
                    <a:solidFill>
                      <a:srgbClr val="1F4E79"/>
                    </a:solidFill>
                  </a:tcPr>
                </a:tc>
                <a:tc>
                  <a:txBody>
                    <a:bodyPr wrap="square"/>
                    <a:lstStyle/>
                    <a:p>
                      <a:pPr algn="l"/>
                      <a:r>
                        <a:rPr sz="1250" b="1">
                          <a:solidFill>
                            <a:srgbClr val="FFFFFF"/>
                          </a:solidFill>
                          <a:latin typeface="Arial"/>
                        </a:rPr>
                        <a:t>Costo</a:t>
                      </a:r>
                    </a:p>
                  </a:txBody>
                  <a:tcPr marL="54864" marR="54864" marT="18288" marB="18288" anchor="ctr">
                    <a:solidFill>
                      <a:srgbClr val="1F4E79"/>
                    </a:solidFill>
                  </a:tcPr>
                </a:tc>
              </a:tr>
              <a:tr h="914400">
                <a:tc>
                  <a:txBody>
                    <a:bodyPr wrap="square"/>
                    <a:lstStyle/>
                    <a:p>
                      <a:pPr algn="l"/>
                      <a:r>
                        <a:rPr sz="1250" b="0">
                          <a:solidFill>
                            <a:srgbClr val="404040"/>
                          </a:solidFill>
                          <a:latin typeface="Arial"/>
                        </a:rPr>
                        <a:t>1. Digital</a:t>
                      </a:r>
                    </a:p>
                  </a:txBody>
                  <a:tcPr marL="54864" marR="54864" marT="18288" marB="18288" anchor="ctr">
                    <a:solidFill>
                      <a:srgbClr val="FFFFFF"/>
                    </a:solidFill>
                  </a:tcPr>
                </a:tc>
                <a:tc>
                  <a:txBody>
                    <a:bodyPr wrap="square"/>
                    <a:lstStyle/>
                    <a:p>
                      <a:pPr algn="l"/>
                      <a:r>
                        <a:rPr sz="1250" b="0">
                          <a:solidFill>
                            <a:srgbClr val="404040"/>
                          </a:solidFill>
                          <a:latin typeface="Arial"/>
                        </a:rPr>
                        <a:t>Sitio con demo en línea, video de 3 min y campañas segmentadas a directivos. Más del 80 % busca en línea antes de agendar cita</a:t>
                      </a:r>
                    </a:p>
                  </a:txBody>
                  <a:tcPr marL="54864" marR="54864" marT="18288" marB="18288" anchor="ctr">
                    <a:solidFill>
                      <a:srgbClr val="FFFFFF"/>
                    </a:solidFill>
                  </a:tcPr>
                </a:tc>
                <a:tc>
                  <a:txBody>
                    <a:bodyPr wrap="square"/>
                    <a:lstStyle/>
                    <a:p>
                      <a:pPr algn="l"/>
                      <a:r>
                        <a:rPr sz="1250" b="0">
                          <a:solidFill>
                            <a:srgbClr val="404040"/>
                          </a:solidFill>
                          <a:latin typeface="Arial"/>
                        </a:rPr>
                        <a:t>$4.380.000</a:t>
                      </a:r>
                    </a:p>
                  </a:txBody>
                  <a:tcPr marL="54864" marR="54864" marT="18288" marB="18288" anchor="ctr">
                    <a:solidFill>
                      <a:srgbClr val="FFFFFF"/>
                    </a:solidFill>
                  </a:tcPr>
                </a:tc>
              </a:tr>
              <a:tr h="914400">
                <a:tc>
                  <a:txBody>
                    <a:bodyPr wrap="square"/>
                    <a:lstStyle/>
                    <a:p>
                      <a:pPr algn="l"/>
                      <a:r>
                        <a:rPr sz="1250" b="0">
                          <a:solidFill>
                            <a:srgbClr val="404040"/>
                          </a:solidFill>
                          <a:latin typeface="Arial"/>
                        </a:rPr>
                        <a:t>2. Eventos y visitas</a:t>
                      </a:r>
                    </a:p>
                  </a:txBody>
                  <a:tcPr marL="54864" marR="54864" marT="18288" marB="18288" anchor="ctr">
                    <a:solidFill>
                      <a:srgbClr val="F7F9FB"/>
                    </a:solidFill>
                  </a:tcPr>
                </a:tc>
                <a:tc>
                  <a:txBody>
                    <a:bodyPr wrap="square"/>
                    <a:lstStyle/>
                    <a:p>
                      <a:pPr algn="l"/>
                      <a:r>
                        <a:rPr sz="1250" b="0">
                          <a:solidFill>
                            <a:srgbClr val="404040"/>
                          </a:solidFill>
                          <a:latin typeface="Arial"/>
                        </a:rPr>
                        <a:t>3 ferias del sector y 24 visitas con demostración en sitio. La compra de software escolar exige hablar con el rector</a:t>
                      </a:r>
                    </a:p>
                  </a:txBody>
                  <a:tcPr marL="54864" marR="54864" marT="18288" marB="18288" anchor="ctr">
                    <a:solidFill>
                      <a:srgbClr val="F7F9FB"/>
                    </a:solidFill>
                  </a:tcPr>
                </a:tc>
                <a:tc>
                  <a:txBody>
                    <a:bodyPr wrap="square"/>
                    <a:lstStyle/>
                    <a:p>
                      <a:pPr algn="l"/>
                      <a:r>
                        <a:rPr sz="1250" b="0">
                          <a:solidFill>
                            <a:srgbClr val="404040"/>
                          </a:solidFill>
                          <a:latin typeface="Arial"/>
                        </a:rPr>
                        <a:t>$6.480.000</a:t>
                      </a:r>
                    </a:p>
                  </a:txBody>
                  <a:tcPr marL="54864" marR="54864" marT="18288" marB="18288" anchor="ctr">
                    <a:solidFill>
                      <a:srgbClr val="F7F9FB"/>
                    </a:solidFill>
                  </a:tcPr>
                </a:tc>
              </a:tr>
              <a:tr h="914400">
                <a:tc>
                  <a:txBody>
                    <a:bodyPr wrap="square"/>
                    <a:lstStyle/>
                    <a:p>
                      <a:pPr algn="l"/>
                      <a:r>
                        <a:rPr sz="1250" b="0">
                          <a:solidFill>
                            <a:srgbClr val="404040"/>
                          </a:solidFill>
                          <a:latin typeface="Arial"/>
                        </a:rPr>
                        <a:t>3. Marca e impreso</a:t>
                      </a:r>
                    </a:p>
                  </a:txBody>
                  <a:tcPr marL="54864" marR="54864" marT="18288" marB="18288" anchor="ctr">
                    <a:solidFill>
                      <a:srgbClr val="FFFFFF"/>
                    </a:solidFill>
                  </a:tcPr>
                </a:tc>
                <a:tc>
                  <a:txBody>
                    <a:bodyPr wrap="square"/>
                    <a:lstStyle/>
                    <a:p>
                      <a:pPr algn="l"/>
                      <a:r>
                        <a:rPr sz="1250" b="0">
                          <a:solidFill>
                            <a:srgbClr val="404040"/>
                          </a:solidFill>
                          <a:latin typeface="Arial"/>
                        </a:rPr>
                        <a:t>Logo, brochure, tarjetas, pendón y material POP. Cada visita deja huella física verificable</a:t>
                      </a:r>
                    </a:p>
                  </a:txBody>
                  <a:tcPr marL="54864" marR="54864" marT="18288" marB="18288" anchor="ctr">
                    <a:solidFill>
                      <a:srgbClr val="FFFFFF"/>
                    </a:solidFill>
                  </a:tcPr>
                </a:tc>
                <a:tc>
                  <a:txBody>
                    <a:bodyPr wrap="square"/>
                    <a:lstStyle/>
                    <a:p>
                      <a:pPr algn="l"/>
                      <a:r>
                        <a:rPr sz="1250" b="0">
                          <a:solidFill>
                            <a:srgbClr val="404040"/>
                          </a:solidFill>
                          <a:latin typeface="Arial"/>
                        </a:rPr>
                        <a:t>$4.830.000</a:t>
                      </a:r>
                    </a:p>
                  </a:txBody>
                  <a:tcPr marL="54864" marR="54864" marT="18288" marB="18288" anchor="ctr">
                    <a:solidFill>
                      <a:srgbClr val="FFFFFF"/>
                    </a:solidFill>
                  </a:tcPr>
                </a:tc>
              </a:tr>
            </a:tbl>
          </a:graphicData>
        </a:graphic>
      </p:graphicFrame>
      <p:sp>
        <p:nvSpPr>
          <p:cNvPr id="5" name="TextBox 4"/>
          <p:cNvSpPr txBox="1"/>
          <p:nvPr/>
        </p:nvSpPr>
        <p:spPr>
          <a:xfrm>
            <a:off x="411480" y="4846320"/>
            <a:ext cx="11384280" cy="1280160"/>
          </a:xfrm>
          <a:prstGeom prst="rect">
            <a:avLst/>
          </a:prstGeom>
          <a:noFill/>
        </p:spPr>
        <p:txBody>
          <a:bodyPr wrap="square" lIns="0" rIns="0">
            <a:spAutoFit/>
          </a:bodyPr>
          <a:lstStyle/>
          <a:p>
            <a:pPr algn="l">
              <a:spcBef>
                <a:spcPts val="0"/>
              </a:spcBef>
              <a:spcAft>
                <a:spcPts val="0"/>
              </a:spcAft>
            </a:pPr>
            <a:r>
              <a:rPr sz="1400" b="0" i="0">
                <a:solidFill>
                  <a:srgbClr val="404040"/>
                </a:solidFill>
                <a:latin typeface="Arial"/>
              </a:rPr>
              <a:t>El 14 % de los ingresos proyectados. El canal 1 permite medir el costo por visita; el canal 2 no, pero es el que cierra: en software escolar se compra por confianza.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3.4.4  PROYECCIÓN DE VENTAS</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La proyección: 20 veces esa unidad</a:t>
            </a:r>
          </a:p>
        </p:txBody>
      </p:sp>
      <p:graphicFrame>
        <p:nvGraphicFramePr>
          <p:cNvPr id="4" name="Table 3"/>
          <p:cNvGraphicFramePr>
            <a:graphicFrameLocks noGrp="1"/>
          </p:cNvGraphicFramePr>
          <p:nvPr/>
        </p:nvGraphicFramePr>
        <p:xfrm>
          <a:off x="411480" y="1554480"/>
          <a:ext cx="11384277" cy="987552"/>
        </p:xfrm>
        <a:graphic>
          <a:graphicData uri="http://schemas.openxmlformats.org/drawingml/2006/table">
            <a:tbl>
              <a:tblPr firstRow="1" bandRow="1">
                <a:tableStyleId>{5C22544A-7EE6-4342-B048-85BDC9FD1C3A}</a:tableStyleId>
              </a:tblPr>
              <a:tblGrid>
                <a:gridCol w="3033428"/>
                <a:gridCol w="642373"/>
                <a:gridCol w="642373"/>
                <a:gridCol w="642373"/>
                <a:gridCol w="642373"/>
                <a:gridCol w="642373"/>
                <a:gridCol w="642373"/>
                <a:gridCol w="642373"/>
                <a:gridCol w="642373"/>
                <a:gridCol w="642373"/>
                <a:gridCol w="642373"/>
                <a:gridCol w="642373"/>
                <a:gridCol w="642373"/>
                <a:gridCol w="642373"/>
              </a:tblGrid>
              <a:tr h="365760">
                <a:tc>
                  <a:txBody>
                    <a:bodyPr wrap="square"/>
                    <a:lstStyle/>
                    <a:p>
                      <a:pPr algn="l"/>
                      <a:r>
                        <a:rPr sz="1100" b="1">
                          <a:solidFill>
                            <a:srgbClr val="FFFFFF"/>
                          </a:solidFill>
                          <a:latin typeface="Arial"/>
                        </a:rPr>
                        <a:t>Producto / servicio</a:t>
                      </a:r>
                    </a:p>
                  </a:txBody>
                  <a:tcPr marL="54864" marR="54864" marT="18288" marB="18288" anchor="ctr">
                    <a:solidFill>
                      <a:srgbClr val="1F4E79"/>
                    </a:solidFill>
                  </a:tcPr>
                </a:tc>
                <a:tc>
                  <a:txBody>
                    <a:bodyPr wrap="square"/>
                    <a:lstStyle/>
                    <a:p>
                      <a:pPr algn="l"/>
                      <a:r>
                        <a:rPr sz="1100" b="1">
                          <a:solidFill>
                            <a:srgbClr val="FFFFFF"/>
                          </a:solidFill>
                          <a:latin typeface="Arial"/>
                        </a:rPr>
                        <a:t>M1</a:t>
                      </a:r>
                    </a:p>
                  </a:txBody>
                  <a:tcPr marL="54864" marR="54864" marT="18288" marB="18288" anchor="ctr">
                    <a:solidFill>
                      <a:srgbClr val="1F4E79"/>
                    </a:solidFill>
                  </a:tcPr>
                </a:tc>
                <a:tc>
                  <a:txBody>
                    <a:bodyPr wrap="square"/>
                    <a:lstStyle/>
                    <a:p>
                      <a:pPr algn="l"/>
                      <a:r>
                        <a:rPr sz="1100" b="1">
                          <a:solidFill>
                            <a:srgbClr val="FFFFFF"/>
                          </a:solidFill>
                          <a:latin typeface="Arial"/>
                        </a:rPr>
                        <a:t>M2</a:t>
                      </a:r>
                    </a:p>
                  </a:txBody>
                  <a:tcPr marL="54864" marR="54864" marT="18288" marB="18288" anchor="ctr">
                    <a:solidFill>
                      <a:srgbClr val="1F4E79"/>
                    </a:solidFill>
                  </a:tcPr>
                </a:tc>
                <a:tc>
                  <a:txBody>
                    <a:bodyPr wrap="square"/>
                    <a:lstStyle/>
                    <a:p>
                      <a:pPr algn="l"/>
                      <a:r>
                        <a:rPr sz="1100" b="1">
                          <a:solidFill>
                            <a:srgbClr val="FFFFFF"/>
                          </a:solidFill>
                          <a:latin typeface="Arial"/>
                        </a:rPr>
                        <a:t>M3</a:t>
                      </a:r>
                    </a:p>
                  </a:txBody>
                  <a:tcPr marL="54864" marR="54864" marT="18288" marB="18288" anchor="ctr">
                    <a:solidFill>
                      <a:srgbClr val="1F4E79"/>
                    </a:solidFill>
                  </a:tcPr>
                </a:tc>
                <a:tc>
                  <a:txBody>
                    <a:bodyPr wrap="square"/>
                    <a:lstStyle/>
                    <a:p>
                      <a:pPr algn="l"/>
                      <a:r>
                        <a:rPr sz="1100" b="1">
                          <a:solidFill>
                            <a:srgbClr val="FFFFFF"/>
                          </a:solidFill>
                          <a:latin typeface="Arial"/>
                        </a:rPr>
                        <a:t>M4</a:t>
                      </a:r>
                    </a:p>
                  </a:txBody>
                  <a:tcPr marL="54864" marR="54864" marT="18288" marB="18288" anchor="ctr">
                    <a:solidFill>
                      <a:srgbClr val="1F4E79"/>
                    </a:solidFill>
                  </a:tcPr>
                </a:tc>
                <a:tc>
                  <a:txBody>
                    <a:bodyPr wrap="square"/>
                    <a:lstStyle/>
                    <a:p>
                      <a:pPr algn="l"/>
                      <a:r>
                        <a:rPr sz="1100" b="1">
                          <a:solidFill>
                            <a:srgbClr val="FFFFFF"/>
                          </a:solidFill>
                          <a:latin typeface="Arial"/>
                        </a:rPr>
                        <a:t>M5</a:t>
                      </a:r>
                    </a:p>
                  </a:txBody>
                  <a:tcPr marL="54864" marR="54864" marT="18288" marB="18288" anchor="ctr">
                    <a:solidFill>
                      <a:srgbClr val="1F4E79"/>
                    </a:solidFill>
                  </a:tcPr>
                </a:tc>
                <a:tc>
                  <a:txBody>
                    <a:bodyPr wrap="square"/>
                    <a:lstStyle/>
                    <a:p>
                      <a:pPr algn="l"/>
                      <a:r>
                        <a:rPr sz="1100" b="1">
                          <a:solidFill>
                            <a:srgbClr val="FFFFFF"/>
                          </a:solidFill>
                          <a:latin typeface="Arial"/>
                        </a:rPr>
                        <a:t>M6</a:t>
                      </a:r>
                    </a:p>
                  </a:txBody>
                  <a:tcPr marL="54864" marR="54864" marT="18288" marB="18288" anchor="ctr">
                    <a:solidFill>
                      <a:srgbClr val="1F4E79"/>
                    </a:solidFill>
                  </a:tcPr>
                </a:tc>
                <a:tc>
                  <a:txBody>
                    <a:bodyPr wrap="square"/>
                    <a:lstStyle/>
                    <a:p>
                      <a:pPr algn="l"/>
                      <a:r>
                        <a:rPr sz="1100" b="1">
                          <a:solidFill>
                            <a:srgbClr val="FFFFFF"/>
                          </a:solidFill>
                          <a:latin typeface="Arial"/>
                        </a:rPr>
                        <a:t>M7</a:t>
                      </a:r>
                    </a:p>
                  </a:txBody>
                  <a:tcPr marL="54864" marR="54864" marT="18288" marB="18288" anchor="ctr">
                    <a:solidFill>
                      <a:srgbClr val="1F4E79"/>
                    </a:solidFill>
                  </a:tcPr>
                </a:tc>
                <a:tc>
                  <a:txBody>
                    <a:bodyPr wrap="square"/>
                    <a:lstStyle/>
                    <a:p>
                      <a:pPr algn="l"/>
                      <a:r>
                        <a:rPr sz="1100" b="1">
                          <a:solidFill>
                            <a:srgbClr val="FFFFFF"/>
                          </a:solidFill>
                          <a:latin typeface="Arial"/>
                        </a:rPr>
                        <a:t>M8</a:t>
                      </a:r>
                    </a:p>
                  </a:txBody>
                  <a:tcPr marL="54864" marR="54864" marT="18288" marB="18288" anchor="ctr">
                    <a:solidFill>
                      <a:srgbClr val="1F4E79"/>
                    </a:solidFill>
                  </a:tcPr>
                </a:tc>
                <a:tc>
                  <a:txBody>
                    <a:bodyPr wrap="square"/>
                    <a:lstStyle/>
                    <a:p>
                      <a:pPr algn="l"/>
                      <a:r>
                        <a:rPr sz="1100" b="1">
                          <a:solidFill>
                            <a:srgbClr val="FFFFFF"/>
                          </a:solidFill>
                          <a:latin typeface="Arial"/>
                        </a:rPr>
                        <a:t>M9</a:t>
                      </a:r>
                    </a:p>
                  </a:txBody>
                  <a:tcPr marL="54864" marR="54864" marT="18288" marB="18288" anchor="ctr">
                    <a:solidFill>
                      <a:srgbClr val="1F4E79"/>
                    </a:solidFill>
                  </a:tcPr>
                </a:tc>
                <a:tc>
                  <a:txBody>
                    <a:bodyPr wrap="square"/>
                    <a:lstStyle/>
                    <a:p>
                      <a:pPr algn="l"/>
                      <a:r>
                        <a:rPr sz="1100" b="1">
                          <a:solidFill>
                            <a:srgbClr val="FFFFFF"/>
                          </a:solidFill>
                          <a:latin typeface="Arial"/>
                        </a:rPr>
                        <a:t>M10</a:t>
                      </a:r>
                    </a:p>
                  </a:txBody>
                  <a:tcPr marL="54864" marR="54864" marT="18288" marB="18288" anchor="ctr">
                    <a:solidFill>
                      <a:srgbClr val="1F4E79"/>
                    </a:solidFill>
                  </a:tcPr>
                </a:tc>
                <a:tc>
                  <a:txBody>
                    <a:bodyPr wrap="square"/>
                    <a:lstStyle/>
                    <a:p>
                      <a:pPr algn="l"/>
                      <a:r>
                        <a:rPr sz="1100" b="1">
                          <a:solidFill>
                            <a:srgbClr val="FFFFFF"/>
                          </a:solidFill>
                          <a:latin typeface="Arial"/>
                        </a:rPr>
                        <a:t>M11</a:t>
                      </a:r>
                    </a:p>
                  </a:txBody>
                  <a:tcPr marL="54864" marR="54864" marT="18288" marB="18288" anchor="ctr">
                    <a:solidFill>
                      <a:srgbClr val="1F4E79"/>
                    </a:solidFill>
                  </a:tcPr>
                </a:tc>
                <a:tc>
                  <a:txBody>
                    <a:bodyPr wrap="square"/>
                    <a:lstStyle/>
                    <a:p>
                      <a:pPr algn="l"/>
                      <a:r>
                        <a:rPr sz="1100" b="1">
                          <a:solidFill>
                            <a:srgbClr val="FFFFFF"/>
                          </a:solidFill>
                          <a:latin typeface="Arial"/>
                        </a:rPr>
                        <a:t>M12</a:t>
                      </a:r>
                    </a:p>
                  </a:txBody>
                  <a:tcPr marL="54864" marR="54864" marT="18288" marB="18288" anchor="ctr">
                    <a:solidFill>
                      <a:srgbClr val="1F4E79"/>
                    </a:solidFill>
                  </a:tcPr>
                </a:tc>
                <a:tc>
                  <a:txBody>
                    <a:bodyPr wrap="square"/>
                    <a:lstStyle/>
                    <a:p>
                      <a:pPr algn="l"/>
                      <a:r>
                        <a:rPr sz="1100" b="1">
                          <a:solidFill>
                            <a:srgbClr val="FFFFFF"/>
                          </a:solidFill>
                          <a:latin typeface="Arial"/>
                        </a:rPr>
                        <a:t>Año 1</a:t>
                      </a:r>
                    </a:p>
                  </a:txBody>
                  <a:tcPr marL="54864" marR="54864" marT="18288" marB="18288" anchor="ctr">
                    <a:solidFill>
                      <a:srgbClr val="1F4E79"/>
                    </a:solidFill>
                  </a:tcPr>
                </a:tc>
              </a:tr>
              <a:tr h="310896">
                <a:tc>
                  <a:txBody>
                    <a:bodyPr wrap="square"/>
                    <a:lstStyle/>
                    <a:p>
                      <a:pPr algn="l"/>
                      <a:r>
                        <a:rPr sz="1100" b="0">
                          <a:solidFill>
                            <a:srgbClr val="404040"/>
                          </a:solidFill>
                          <a:latin typeface="Arial"/>
                        </a:rPr>
                        <a:t>A. Suscripción anual (contratos)</a:t>
                      </a:r>
                    </a:p>
                  </a:txBody>
                  <a:tcPr marL="54864" marR="54864" marT="18288" marB="18288" anchor="ctr">
                    <a:solidFill>
                      <a:srgbClr val="FFFFFF"/>
                    </a:solidFill>
                  </a:tcPr>
                </a:tc>
                <a:tc>
                  <a:txBody>
                    <a:bodyPr wrap="square"/>
                    <a:lstStyle/>
                    <a:p>
                      <a:pPr algn="l"/>
                      <a:r>
                        <a:rPr sz="1100" b="0">
                          <a:solidFill>
                            <a:srgbClr val="404040"/>
                          </a:solidFill>
                          <a:latin typeface="Arial"/>
                        </a:rPr>
                        <a:t>0</a:t>
                      </a:r>
                    </a:p>
                  </a:txBody>
                  <a:tcPr marL="54864" marR="54864" marT="18288" marB="18288" anchor="ctr">
                    <a:solidFill>
                      <a:srgbClr val="FFFFFF"/>
                    </a:solidFill>
                  </a:tcPr>
                </a:tc>
                <a:tc>
                  <a:txBody>
                    <a:bodyPr wrap="square"/>
                    <a:lstStyle/>
                    <a:p>
                      <a:pPr algn="l"/>
                      <a:r>
                        <a:rPr sz="1100" b="0">
                          <a:solidFill>
                            <a:srgbClr val="404040"/>
                          </a:solidFill>
                          <a:latin typeface="Arial"/>
                        </a:rPr>
                        <a:t>1</a:t>
                      </a:r>
                    </a:p>
                  </a:txBody>
                  <a:tcPr marL="54864" marR="54864" marT="18288" marB="18288" anchor="ctr">
                    <a:solidFill>
                      <a:srgbClr val="FFFFFF"/>
                    </a:solidFill>
                  </a:tcPr>
                </a:tc>
                <a:tc>
                  <a:txBody>
                    <a:bodyPr wrap="square"/>
                    <a:lstStyle/>
                    <a:p>
                      <a:pPr algn="l"/>
                      <a:r>
                        <a:rPr sz="1100" b="0">
                          <a:solidFill>
                            <a:srgbClr val="404040"/>
                          </a:solidFill>
                          <a:latin typeface="Arial"/>
                        </a:rPr>
                        <a:t>1</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a:t>
                      </a:r>
                    </a:p>
                  </a:txBody>
                  <a:tcPr marL="54864" marR="54864" marT="18288" marB="18288" anchor="ctr">
                    <a:solidFill>
                      <a:srgbClr val="FFFFFF"/>
                    </a:solidFill>
                  </a:tcPr>
                </a:tc>
                <a:tc>
                  <a:txBody>
                    <a:bodyPr wrap="square"/>
                    <a:lstStyle/>
                    <a:p>
                      <a:pPr algn="l"/>
                      <a:r>
                        <a:rPr sz="1100" b="0">
                          <a:solidFill>
                            <a:srgbClr val="404040"/>
                          </a:solidFill>
                          <a:latin typeface="Arial"/>
                        </a:rPr>
                        <a:t>20</a:t>
                      </a:r>
                    </a:p>
                  </a:txBody>
                  <a:tcPr marL="54864" marR="54864" marT="18288" marB="18288" anchor="ctr">
                    <a:solidFill>
                      <a:srgbClr val="FFFFFF"/>
                    </a:solidFill>
                  </a:tcPr>
                </a:tc>
              </a:tr>
              <a:tr h="310896">
                <a:tc>
                  <a:txBody>
                    <a:bodyPr wrap="square"/>
                    <a:lstStyle/>
                    <a:p>
                      <a:pPr algn="l"/>
                      <a:r>
                        <a:rPr sz="1100" b="0">
                          <a:solidFill>
                            <a:srgbClr val="404040"/>
                          </a:solidFill>
                          <a:latin typeface="Arial"/>
                        </a:rPr>
                        <a:t>B. Implementación y migración</a:t>
                      </a:r>
                    </a:p>
                  </a:txBody>
                  <a:tcPr marL="54864" marR="54864" marT="18288" marB="18288" anchor="ctr">
                    <a:solidFill>
                      <a:srgbClr val="F7F9FB"/>
                    </a:solidFill>
                  </a:tcPr>
                </a:tc>
                <a:tc>
                  <a:txBody>
                    <a:bodyPr wrap="square"/>
                    <a:lstStyle/>
                    <a:p>
                      <a:pPr algn="l"/>
                      <a:r>
                        <a:rPr sz="1100" b="0">
                          <a:solidFill>
                            <a:srgbClr val="404040"/>
                          </a:solidFill>
                          <a:latin typeface="Arial"/>
                        </a:rPr>
                        <a:t>0</a:t>
                      </a:r>
                    </a:p>
                  </a:txBody>
                  <a:tcPr marL="54864" marR="54864" marT="18288" marB="18288" anchor="ctr">
                    <a:solidFill>
                      <a:srgbClr val="F7F9FB"/>
                    </a:solidFill>
                  </a:tcPr>
                </a:tc>
                <a:tc>
                  <a:txBody>
                    <a:bodyPr wrap="square"/>
                    <a:lstStyle/>
                    <a:p>
                      <a:pPr algn="l"/>
                      <a:r>
                        <a:rPr sz="1100" b="0">
                          <a:solidFill>
                            <a:srgbClr val="404040"/>
                          </a:solidFill>
                          <a:latin typeface="Arial"/>
                        </a:rPr>
                        <a:t>1</a:t>
                      </a:r>
                    </a:p>
                  </a:txBody>
                  <a:tcPr marL="54864" marR="54864" marT="18288" marB="18288" anchor="ctr">
                    <a:solidFill>
                      <a:srgbClr val="F7F9FB"/>
                    </a:solidFill>
                  </a:tcPr>
                </a:tc>
                <a:tc>
                  <a:txBody>
                    <a:bodyPr wrap="square"/>
                    <a:lstStyle/>
                    <a:p>
                      <a:pPr algn="l"/>
                      <a:r>
                        <a:rPr sz="1100" b="0">
                          <a:solidFill>
                            <a:srgbClr val="404040"/>
                          </a:solidFill>
                          <a:latin typeface="Arial"/>
                        </a:rPr>
                        <a:t>2</a:t>
                      </a:r>
                    </a:p>
                  </a:txBody>
                  <a:tcPr marL="54864" marR="54864" marT="18288" marB="18288" anchor="ctr">
                    <a:solidFill>
                      <a:srgbClr val="F7F9FB"/>
                    </a:solidFill>
                  </a:tcPr>
                </a:tc>
                <a:tc>
                  <a:txBody>
                    <a:bodyPr wrap="square"/>
                    <a:lstStyle/>
                    <a:p>
                      <a:pPr algn="l"/>
                      <a:r>
                        <a:rPr sz="1100" b="0">
                          <a:solidFill>
                            <a:srgbClr val="404040"/>
                          </a:solidFill>
                          <a:latin typeface="Arial"/>
                        </a:rPr>
                        <a:t>1</a:t>
                      </a:r>
                    </a:p>
                  </a:txBody>
                  <a:tcPr marL="54864" marR="54864" marT="18288" marB="18288" anchor="ctr">
                    <a:solidFill>
                      <a:srgbClr val="F7F9FB"/>
                    </a:solidFill>
                  </a:tcPr>
                </a:tc>
                <a:tc>
                  <a:txBody>
                    <a:bodyPr wrap="square"/>
                    <a:lstStyle/>
                    <a:p>
                      <a:pPr algn="l"/>
                      <a:r>
                        <a:rPr sz="1100" b="0">
                          <a:solidFill>
                            <a:srgbClr val="404040"/>
                          </a:solidFill>
                          <a:latin typeface="Arial"/>
                        </a:rPr>
                        <a:t>2</a:t>
                      </a:r>
                    </a:p>
                  </a:txBody>
                  <a:tcPr marL="54864" marR="54864" marT="18288" marB="18288" anchor="ctr">
                    <a:solidFill>
                      <a:srgbClr val="F7F9FB"/>
                    </a:solidFill>
                  </a:tcPr>
                </a:tc>
                <a:tc>
                  <a:txBody>
                    <a:bodyPr wrap="square"/>
                    <a:lstStyle/>
                    <a:p>
                      <a:pPr algn="l"/>
                      <a:r>
                        <a:rPr sz="1100" b="0">
                          <a:solidFill>
                            <a:srgbClr val="404040"/>
                          </a:solidFill>
                          <a:latin typeface="Arial"/>
                        </a:rPr>
                        <a:t>1</a:t>
                      </a:r>
                    </a:p>
                  </a:txBody>
                  <a:tcPr marL="54864" marR="54864" marT="18288" marB="18288" anchor="ctr">
                    <a:solidFill>
                      <a:srgbClr val="F7F9FB"/>
                    </a:solidFill>
                  </a:tcPr>
                </a:tc>
                <a:tc>
                  <a:txBody>
                    <a:bodyPr wrap="square"/>
                    <a:lstStyle/>
                    <a:p>
                      <a:pPr algn="l"/>
                      <a:r>
                        <a:rPr sz="1100" b="0">
                          <a:solidFill>
                            <a:srgbClr val="404040"/>
                          </a:solidFill>
                          <a:latin typeface="Arial"/>
                        </a:rPr>
                        <a:t>2</a:t>
                      </a:r>
                    </a:p>
                  </a:txBody>
                  <a:tcPr marL="54864" marR="54864" marT="18288" marB="18288" anchor="ctr">
                    <a:solidFill>
                      <a:srgbClr val="F7F9FB"/>
                    </a:solidFill>
                  </a:tcPr>
                </a:tc>
                <a:tc>
                  <a:txBody>
                    <a:bodyPr wrap="square"/>
                    <a:lstStyle/>
                    <a:p>
                      <a:pPr algn="l"/>
                      <a:r>
                        <a:rPr sz="1100" b="0">
                          <a:solidFill>
                            <a:srgbClr val="404040"/>
                          </a:solidFill>
                          <a:latin typeface="Arial"/>
                        </a:rPr>
                        <a:t>2</a:t>
                      </a:r>
                    </a:p>
                  </a:txBody>
                  <a:tcPr marL="54864" marR="54864" marT="18288" marB="18288" anchor="ctr">
                    <a:solidFill>
                      <a:srgbClr val="F7F9FB"/>
                    </a:solidFill>
                  </a:tcPr>
                </a:tc>
                <a:tc>
                  <a:txBody>
                    <a:bodyPr wrap="square"/>
                    <a:lstStyle/>
                    <a:p>
                      <a:pPr algn="l"/>
                      <a:r>
                        <a:rPr sz="1100" b="0">
                          <a:solidFill>
                            <a:srgbClr val="404040"/>
                          </a:solidFill>
                          <a:latin typeface="Arial"/>
                        </a:rPr>
                        <a:t>2</a:t>
                      </a:r>
                    </a:p>
                  </a:txBody>
                  <a:tcPr marL="54864" marR="54864" marT="18288" marB="18288" anchor="ctr">
                    <a:solidFill>
                      <a:srgbClr val="F7F9FB"/>
                    </a:solidFill>
                  </a:tcPr>
                </a:tc>
                <a:tc>
                  <a:txBody>
                    <a:bodyPr wrap="square"/>
                    <a:lstStyle/>
                    <a:p>
                      <a:pPr algn="l"/>
                      <a:r>
                        <a:rPr sz="1100" b="0">
                          <a:solidFill>
                            <a:srgbClr val="404040"/>
                          </a:solidFill>
                          <a:latin typeface="Arial"/>
                        </a:rPr>
                        <a:t>2</a:t>
                      </a:r>
                    </a:p>
                  </a:txBody>
                  <a:tcPr marL="54864" marR="54864" marT="18288" marB="18288" anchor="ctr">
                    <a:solidFill>
                      <a:srgbClr val="F7F9FB"/>
                    </a:solidFill>
                  </a:tcPr>
                </a:tc>
                <a:tc>
                  <a:txBody>
                    <a:bodyPr wrap="square"/>
                    <a:lstStyle/>
                    <a:p>
                      <a:pPr algn="l"/>
                      <a:r>
                        <a:rPr sz="1100" b="0">
                          <a:solidFill>
                            <a:srgbClr val="404040"/>
                          </a:solidFill>
                          <a:latin typeface="Arial"/>
                        </a:rPr>
                        <a:t>2</a:t>
                      </a:r>
                    </a:p>
                  </a:txBody>
                  <a:tcPr marL="54864" marR="54864" marT="18288" marB="18288" anchor="ctr">
                    <a:solidFill>
                      <a:srgbClr val="F7F9FB"/>
                    </a:solidFill>
                  </a:tcPr>
                </a:tc>
                <a:tc>
                  <a:txBody>
                    <a:bodyPr wrap="square"/>
                    <a:lstStyle/>
                    <a:p>
                      <a:pPr algn="l"/>
                      <a:r>
                        <a:rPr sz="1100" b="0">
                          <a:solidFill>
                            <a:srgbClr val="404040"/>
                          </a:solidFill>
                          <a:latin typeface="Arial"/>
                        </a:rPr>
                        <a:t>2</a:t>
                      </a:r>
                    </a:p>
                  </a:txBody>
                  <a:tcPr marL="54864" marR="54864" marT="18288" marB="18288" anchor="ctr">
                    <a:solidFill>
                      <a:srgbClr val="F7F9FB"/>
                    </a:solidFill>
                  </a:tcPr>
                </a:tc>
                <a:tc>
                  <a:txBody>
                    <a:bodyPr wrap="square"/>
                    <a:lstStyle/>
                    <a:p>
                      <a:pPr algn="l"/>
                      <a:r>
                        <a:rPr sz="1100" b="0">
                          <a:solidFill>
                            <a:srgbClr val="404040"/>
                          </a:solidFill>
                          <a:latin typeface="Arial"/>
                        </a:rPr>
                        <a:t>20</a:t>
                      </a:r>
                    </a:p>
                  </a:txBody>
                  <a:tcPr marL="54864" marR="54864" marT="18288" marB="18288" anchor="ctr">
                    <a:solidFill>
                      <a:srgbClr val="F7F9FB"/>
                    </a:solidFill>
                  </a:tcPr>
                </a:tc>
              </a:tr>
            </a:tbl>
          </a:graphicData>
        </a:graphic>
      </p:graphicFrame>
      <p:sp>
        <p:nvSpPr>
          <p:cNvPr id="5" name="Rectangle 4"/>
          <p:cNvSpPr/>
          <p:nvPr/>
        </p:nvSpPr>
        <p:spPr>
          <a:xfrm>
            <a:off x="411480" y="3108960"/>
            <a:ext cx="2697480" cy="1051560"/>
          </a:xfrm>
          <a:prstGeom prst="rect">
            <a:avLst/>
          </a:prstGeom>
          <a:solidFill>
            <a:srgbClr val="F7F9FB"/>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spcBef>
                <a:spcPts val="0"/>
              </a:spcBef>
              <a:spcAft>
                <a:spcPts val="200"/>
              </a:spcAft>
            </a:pPr>
            <a:r>
              <a:rPr sz="2200" b="1" i="0">
                <a:solidFill>
                  <a:srgbClr val="1F4E79"/>
                </a:solidFill>
                <a:latin typeface="Arial"/>
              </a:rPr>
              <a:t>$41.000.000</a:t>
            </a:r>
          </a:p>
          <a:p>
            <a:pPr algn="ctr">
              <a:spcBef>
                <a:spcPts val="0"/>
              </a:spcBef>
              <a:spcAft>
                <a:spcPts val="0"/>
              </a:spcAft>
            </a:pPr>
            <a:r>
              <a:rPr sz="1050" b="0" i="0">
                <a:solidFill>
                  <a:srgbClr val="404040"/>
                </a:solidFill>
                <a:latin typeface="Arial"/>
              </a:rPr>
              <a:t>20 suscripciones
11 Básico · 7 Intermedio · 2 Superior</a:t>
            </a:r>
          </a:p>
        </p:txBody>
      </p:sp>
      <p:sp>
        <p:nvSpPr>
          <p:cNvPr id="6" name="Rectangle 5"/>
          <p:cNvSpPr/>
          <p:nvPr/>
        </p:nvSpPr>
        <p:spPr>
          <a:xfrm>
            <a:off x="3310128" y="3108960"/>
            <a:ext cx="2697480" cy="1051560"/>
          </a:xfrm>
          <a:prstGeom prst="rect">
            <a:avLst/>
          </a:prstGeom>
          <a:solidFill>
            <a:srgbClr val="F7F9FB"/>
          </a:solidFill>
          <a:ln w="15875">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spcBef>
                <a:spcPts val="0"/>
              </a:spcBef>
              <a:spcAft>
                <a:spcPts val="200"/>
              </a:spcAft>
            </a:pPr>
            <a:r>
              <a:rPr sz="2200" b="1" i="0">
                <a:solidFill>
                  <a:srgbClr val="2E74B5"/>
                </a:solidFill>
                <a:latin typeface="Arial"/>
              </a:rPr>
              <a:t>$70.000.000</a:t>
            </a:r>
          </a:p>
          <a:p>
            <a:pPr algn="ctr">
              <a:spcBef>
                <a:spcPts val="0"/>
              </a:spcBef>
              <a:spcAft>
                <a:spcPts val="0"/>
              </a:spcAft>
            </a:pPr>
            <a:r>
              <a:rPr sz="1050" b="0" i="0">
                <a:solidFill>
                  <a:srgbClr val="404040"/>
                </a:solidFill>
                <a:latin typeface="Arial"/>
              </a:rPr>
              <a:t>20 implementaciones
$3.500.000 cada una</a:t>
            </a:r>
          </a:p>
        </p:txBody>
      </p:sp>
      <p:sp>
        <p:nvSpPr>
          <p:cNvPr id="7" name="Rectangle 6"/>
          <p:cNvSpPr/>
          <p:nvPr/>
        </p:nvSpPr>
        <p:spPr>
          <a:xfrm>
            <a:off x="6208776" y="3108960"/>
            <a:ext cx="2697480" cy="1051560"/>
          </a:xfrm>
          <a:prstGeom prst="rect">
            <a:avLst/>
          </a:prstGeom>
          <a:solidFill>
            <a:srgbClr val="F7F9FB"/>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spcBef>
                <a:spcPts val="0"/>
              </a:spcBef>
              <a:spcAft>
                <a:spcPts val="200"/>
              </a:spcAft>
            </a:pPr>
            <a:r>
              <a:rPr sz="2200" b="1" i="0">
                <a:solidFill>
                  <a:srgbClr val="2E7D32"/>
                </a:solidFill>
                <a:latin typeface="Arial"/>
              </a:rPr>
              <a:t>$111.000.000</a:t>
            </a:r>
          </a:p>
          <a:p>
            <a:pPr algn="ctr">
              <a:spcBef>
                <a:spcPts val="0"/>
              </a:spcBef>
              <a:spcAft>
                <a:spcPts val="0"/>
              </a:spcAft>
            </a:pPr>
            <a:r>
              <a:rPr sz="1050" b="0" i="0">
                <a:solidFill>
                  <a:srgbClr val="404040"/>
                </a:solidFill>
                <a:latin typeface="Arial"/>
              </a:rPr>
              <a:t>Ingreso total del año 1</a:t>
            </a:r>
          </a:p>
        </p:txBody>
      </p:sp>
      <p:sp>
        <p:nvSpPr>
          <p:cNvPr id="8" name="Rectangle 7"/>
          <p:cNvSpPr/>
          <p:nvPr/>
        </p:nvSpPr>
        <p:spPr>
          <a:xfrm>
            <a:off x="9107424" y="3108960"/>
            <a:ext cx="2688336" cy="1051560"/>
          </a:xfrm>
          <a:prstGeom prst="rect">
            <a:avLst/>
          </a:prstGeom>
          <a:solidFill>
            <a:srgbClr val="F7F9FB"/>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spcBef>
                <a:spcPts val="0"/>
              </a:spcBef>
              <a:spcAft>
                <a:spcPts val="200"/>
              </a:spcAft>
            </a:pPr>
            <a:r>
              <a:rPr sz="2200" b="1" i="0">
                <a:solidFill>
                  <a:srgbClr val="7F7F7F"/>
                </a:solidFill>
                <a:latin typeface="Arial"/>
              </a:rPr>
              <a:t>0</a:t>
            </a:r>
          </a:p>
          <a:p>
            <a:pPr algn="ctr">
              <a:spcBef>
                <a:spcPts val="0"/>
              </a:spcBef>
              <a:spcAft>
                <a:spcPts val="0"/>
              </a:spcAft>
            </a:pPr>
            <a:r>
              <a:rPr sz="1050" b="0" i="0">
                <a:solidFill>
                  <a:srgbClr val="404040"/>
                </a:solidFill>
                <a:latin typeface="Arial"/>
              </a:rPr>
              <a:t>Cierres en el primer mes</a:t>
            </a:r>
          </a:p>
        </p:txBody>
      </p:sp>
      <p:sp>
        <p:nvSpPr>
          <p:cNvPr id="9" name="TextBox 8"/>
          <p:cNvSpPr txBox="1"/>
          <p:nvPr/>
        </p:nvSpPr>
        <p:spPr>
          <a:xfrm>
            <a:off x="411480" y="4526280"/>
            <a:ext cx="11384280" cy="1645920"/>
          </a:xfrm>
          <a:prstGeom prst="rect">
            <a:avLst/>
          </a:prstGeom>
          <a:noFill/>
        </p:spPr>
        <p:txBody>
          <a:bodyPr wrap="square" lIns="0" rIns="0">
            <a:spAutoFit/>
          </a:bodyPr>
          <a:lstStyle/>
          <a:p>
            <a:pPr algn="l">
              <a:spcBef>
                <a:spcPts val="0"/>
              </a:spcBef>
              <a:spcAft>
                <a:spcPts val="400"/>
              </a:spcAft>
            </a:pPr>
            <a:r>
              <a:rPr sz="1400" b="0" i="0">
                <a:solidFill>
                  <a:srgbClr val="404040"/>
                </a:solidFill>
                <a:latin typeface="Arial"/>
              </a:rPr>
              <a:t>Proyección conservadora: no incluye renovaciones del año 2, ni clientes de otros países, ni módulos adicionales. El primer trimestre es de prueba, por eso el mes 1 es cero.</a:t>
            </a:r>
          </a:p>
          <a:p>
            <a:pPr algn="l">
              <a:spcBef>
                <a:spcPts val="0"/>
              </a:spcBef>
              <a:spcAft>
                <a:spcPts val="0"/>
              </a:spcAft>
            </a:pPr>
            <a:r>
              <a:rPr sz="1400" b="0" i="0">
                <a:solidFill>
                  <a:srgbClr val="404040"/>
                </a:solidFill>
                <a:latin typeface="Arial"/>
              </a:rPr>
              <a:t>Supuesto de mezcla: 11 colegios en Plan Básico, 7 en Intermedio y 2 en Superior. Esta mezcla define el punto de equilibrio.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2  PLAN OPERATIVO</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Plan operativo a 12 meses</a:t>
            </a:r>
          </a:p>
        </p:txBody>
      </p:sp>
      <p:graphicFrame>
        <p:nvGraphicFramePr>
          <p:cNvPr id="4" name="Table 3"/>
          <p:cNvGraphicFramePr>
            <a:graphicFrameLocks noGrp="1"/>
          </p:cNvGraphicFramePr>
          <p:nvPr/>
        </p:nvGraphicFramePr>
        <p:xfrm>
          <a:off x="411480" y="1554480"/>
          <a:ext cx="11384278" cy="3675888"/>
        </p:xfrm>
        <a:graphic>
          <a:graphicData uri="http://schemas.openxmlformats.org/drawingml/2006/table">
            <a:tbl>
              <a:tblPr firstRow="1" bandRow="1">
                <a:tableStyleId>{5C22544A-7EE6-4342-B048-85BDC9FD1C3A}</a:tableStyleId>
              </a:tblPr>
              <a:tblGrid>
                <a:gridCol w="6938989"/>
                <a:gridCol w="1951590"/>
                <a:gridCol w="2493699"/>
              </a:tblGrid>
              <a:tr h="457200">
                <a:tc>
                  <a:txBody>
                    <a:bodyPr wrap="square"/>
                    <a:lstStyle/>
                    <a:p>
                      <a:pPr algn="l"/>
                      <a:r>
                        <a:rPr sz="1250" b="1">
                          <a:solidFill>
                            <a:srgbClr val="FFFFFF"/>
                          </a:solidFill>
                          <a:latin typeface="Arial"/>
                        </a:rPr>
                        <a:t>Actividad</a:t>
                      </a:r>
                    </a:p>
                  </a:txBody>
                  <a:tcPr marL="54864" marR="54864" marT="18288" marB="18288" anchor="ctr">
                    <a:solidFill>
                      <a:srgbClr val="1F4E79"/>
                    </a:solidFill>
                  </a:tcPr>
                </a:tc>
                <a:tc>
                  <a:txBody>
                    <a:bodyPr wrap="square"/>
                    <a:lstStyle/>
                    <a:p>
                      <a:pPr algn="l"/>
                      <a:r>
                        <a:rPr sz="1250" b="1">
                          <a:solidFill>
                            <a:srgbClr val="FFFFFF"/>
                          </a:solidFill>
                          <a:latin typeface="Arial"/>
                        </a:rPr>
                        <a:t>Fechas</a:t>
                      </a:r>
                    </a:p>
                  </a:txBody>
                  <a:tcPr marL="54864" marR="54864" marT="18288" marB="18288" anchor="ctr">
                    <a:solidFill>
                      <a:srgbClr val="1F4E79"/>
                    </a:solidFill>
                  </a:tcPr>
                </a:tc>
                <a:tc>
                  <a:txBody>
                    <a:bodyPr wrap="square"/>
                    <a:lstStyle/>
                    <a:p>
                      <a:pPr algn="l"/>
                      <a:r>
                        <a:rPr sz="1250" b="1">
                          <a:solidFill>
                            <a:srgbClr val="FFFFFF"/>
                          </a:solidFill>
                          <a:latin typeface="Arial"/>
                        </a:rPr>
                        <a:t>Responsables</a:t>
                      </a:r>
                    </a:p>
                  </a:txBody>
                  <a:tcPr marL="54864" marR="54864" marT="18288" marB="18288" anchor="ctr">
                    <a:solidFill>
                      <a:srgbClr val="1F4E79"/>
                    </a:solidFill>
                  </a:tcPr>
                </a:tc>
              </a:tr>
              <a:tr h="402336">
                <a:tc>
                  <a:txBody>
                    <a:bodyPr wrap="square"/>
                    <a:lstStyle/>
                    <a:p>
                      <a:pPr algn="l"/>
                      <a:r>
                        <a:rPr sz="1250" b="0">
                          <a:solidFill>
                            <a:srgbClr val="404040"/>
                          </a:solidFill>
                          <a:latin typeface="Arial"/>
                        </a:rPr>
                        <a:t>Fase 1. Estabilización y deuda técnica</a:t>
                      </a:r>
                    </a:p>
                  </a:txBody>
                  <a:tcPr marL="54864" marR="54864" marT="18288" marB="18288" anchor="ctr">
                    <a:solidFill>
                      <a:srgbClr val="FFFFFF"/>
                    </a:solidFill>
                  </a:tcPr>
                </a:tc>
                <a:tc>
                  <a:txBody>
                    <a:bodyPr wrap="square"/>
                    <a:lstStyle/>
                    <a:p>
                      <a:pPr algn="l"/>
                      <a:r>
                        <a:rPr sz="1250" b="0">
                          <a:solidFill>
                            <a:srgbClr val="404040"/>
                          </a:solidFill>
                          <a:latin typeface="Arial"/>
                        </a:rPr>
                        <a:t>Mes 1 - Mes 2</a:t>
                      </a:r>
                    </a:p>
                  </a:txBody>
                  <a:tcPr marL="54864" marR="54864" marT="18288" marB="18288" anchor="ctr">
                    <a:solidFill>
                      <a:srgbClr val="FFFFFF"/>
                    </a:solidFill>
                  </a:tcPr>
                </a:tc>
                <a:tc>
                  <a:txBody>
                    <a:bodyPr wrap="square"/>
                    <a:lstStyle/>
                    <a:p>
                      <a:pPr algn="l"/>
                      <a:r>
                        <a:rPr sz="1250" b="0">
                          <a:solidFill>
                            <a:srgbClr val="404040"/>
                          </a:solidFill>
                          <a:latin typeface="Arial"/>
                        </a:rPr>
                        <a:t>Martín · Santiago</a:t>
                      </a:r>
                    </a:p>
                  </a:txBody>
                  <a:tcPr marL="54864" marR="54864" marT="18288" marB="18288" anchor="ctr">
                    <a:solidFill>
                      <a:srgbClr val="FFFFFF"/>
                    </a:solidFill>
                  </a:tcPr>
                </a:tc>
              </a:tr>
              <a:tr h="402336">
                <a:tc>
                  <a:txBody>
                    <a:bodyPr wrap="square"/>
                    <a:lstStyle/>
                    <a:p>
                      <a:pPr algn="l"/>
                      <a:r>
                        <a:rPr sz="1250" b="0">
                          <a:solidFill>
                            <a:srgbClr val="404040"/>
                          </a:solidFill>
                          <a:latin typeface="Arial"/>
                        </a:rPr>
                        <a:t>Fase 2. Módulos con servicio listo sin pantalla: Observador y Elecciones</a:t>
                      </a:r>
                    </a:p>
                  </a:txBody>
                  <a:tcPr marL="54864" marR="54864" marT="18288" marB="18288" anchor="ctr">
                    <a:solidFill>
                      <a:srgbClr val="F7F9FB"/>
                    </a:solidFill>
                  </a:tcPr>
                </a:tc>
                <a:tc>
                  <a:txBody>
                    <a:bodyPr wrap="square"/>
                    <a:lstStyle/>
                    <a:p>
                      <a:pPr algn="l"/>
                      <a:r>
                        <a:rPr sz="1250" b="0">
                          <a:solidFill>
                            <a:srgbClr val="404040"/>
                          </a:solidFill>
                          <a:latin typeface="Arial"/>
                        </a:rPr>
                        <a:t>Mes 2 - Mes 4</a:t>
                      </a:r>
                    </a:p>
                  </a:txBody>
                  <a:tcPr marL="54864" marR="54864" marT="18288" marB="18288" anchor="ctr">
                    <a:solidFill>
                      <a:srgbClr val="F7F9FB"/>
                    </a:solidFill>
                  </a:tcPr>
                </a:tc>
                <a:tc>
                  <a:txBody>
                    <a:bodyPr wrap="square"/>
                    <a:lstStyle/>
                    <a:p>
                      <a:pPr algn="l"/>
                      <a:r>
                        <a:rPr sz="1250" b="0">
                          <a:solidFill>
                            <a:srgbClr val="404040"/>
                          </a:solidFill>
                          <a:latin typeface="Arial"/>
                        </a:rPr>
                        <a:t>Yorman · Andrés</a:t>
                      </a:r>
                    </a:p>
                  </a:txBody>
                  <a:tcPr marL="54864" marR="54864" marT="18288" marB="18288" anchor="ctr">
                    <a:solidFill>
                      <a:srgbClr val="F7F9FB"/>
                    </a:solidFill>
                  </a:tcPr>
                </a:tc>
              </a:tr>
              <a:tr h="402336">
                <a:tc>
                  <a:txBody>
                    <a:bodyPr wrap="square"/>
                    <a:lstStyle/>
                    <a:p>
                      <a:pPr algn="l"/>
                      <a:r>
                        <a:rPr sz="1250" b="0">
                          <a:solidFill>
                            <a:srgbClr val="404040"/>
                          </a:solidFill>
                          <a:latin typeface="Arial"/>
                        </a:rPr>
                        <a:t>Fase 3. Reportes e impresión en PDF</a:t>
                      </a:r>
                    </a:p>
                  </a:txBody>
                  <a:tcPr marL="54864" marR="54864" marT="18288" marB="18288" anchor="ctr">
                    <a:solidFill>
                      <a:srgbClr val="FFFFFF"/>
                    </a:solidFill>
                  </a:tcPr>
                </a:tc>
                <a:tc>
                  <a:txBody>
                    <a:bodyPr wrap="square"/>
                    <a:lstStyle/>
                    <a:p>
                      <a:pPr algn="l"/>
                      <a:r>
                        <a:rPr sz="1250" b="0">
                          <a:solidFill>
                            <a:srgbClr val="404040"/>
                          </a:solidFill>
                          <a:latin typeface="Arial"/>
                        </a:rPr>
                        <a:t>Mes 3 - Mes 5</a:t>
                      </a:r>
                    </a:p>
                  </a:txBody>
                  <a:tcPr marL="54864" marR="54864" marT="18288" marB="18288" anchor="ctr">
                    <a:solidFill>
                      <a:srgbClr val="FFFFFF"/>
                    </a:solidFill>
                  </a:tcPr>
                </a:tc>
                <a:tc>
                  <a:txBody>
                    <a:bodyPr wrap="square"/>
                    <a:lstStyle/>
                    <a:p>
                      <a:pPr algn="l"/>
                      <a:r>
                        <a:rPr sz="1250" b="0">
                          <a:solidFill>
                            <a:srgbClr val="404040"/>
                          </a:solidFill>
                          <a:latin typeface="Arial"/>
                        </a:rPr>
                        <a:t>Sneyder</a:t>
                      </a:r>
                    </a:p>
                  </a:txBody>
                  <a:tcPr marL="54864" marR="54864" marT="18288" marB="18288" anchor="ctr">
                    <a:solidFill>
                      <a:srgbClr val="FFFFFF"/>
                    </a:solidFill>
                  </a:tcPr>
                </a:tc>
              </a:tr>
              <a:tr h="402336">
                <a:tc>
                  <a:txBody>
                    <a:bodyPr wrap="square"/>
                    <a:lstStyle/>
                    <a:p>
                      <a:pPr algn="l"/>
                      <a:r>
                        <a:rPr sz="1250" b="0">
                          <a:solidFill>
                            <a:srgbClr val="404040"/>
                          </a:solidFill>
                          <a:latin typeface="Arial"/>
                        </a:rPr>
                        <a:t>Importación masiva desde Excel y CSV, con validación de duplicados</a:t>
                      </a:r>
                    </a:p>
                  </a:txBody>
                  <a:tcPr marL="54864" marR="54864" marT="18288" marB="18288" anchor="ctr">
                    <a:solidFill>
                      <a:srgbClr val="F7F9FB"/>
                    </a:solidFill>
                  </a:tcPr>
                </a:tc>
                <a:tc>
                  <a:txBody>
                    <a:bodyPr wrap="square"/>
                    <a:lstStyle/>
                    <a:p>
                      <a:pPr algn="l"/>
                      <a:r>
                        <a:rPr sz="1250" b="0">
                          <a:solidFill>
                            <a:srgbClr val="404040"/>
                          </a:solidFill>
                          <a:latin typeface="Arial"/>
                        </a:rPr>
                        <a:t>Mes 3 - Mes 5</a:t>
                      </a:r>
                    </a:p>
                  </a:txBody>
                  <a:tcPr marL="54864" marR="54864" marT="18288" marB="18288" anchor="ctr">
                    <a:solidFill>
                      <a:srgbClr val="F7F9FB"/>
                    </a:solidFill>
                  </a:tcPr>
                </a:tc>
                <a:tc>
                  <a:txBody>
                    <a:bodyPr wrap="square"/>
                    <a:lstStyle/>
                    <a:p>
                      <a:pPr algn="l"/>
                      <a:r>
                        <a:rPr sz="1250" b="0">
                          <a:solidFill>
                            <a:srgbClr val="404040"/>
                          </a:solidFill>
                          <a:latin typeface="Arial"/>
                        </a:rPr>
                        <a:t>Martín · Andrés</a:t>
                      </a:r>
                    </a:p>
                  </a:txBody>
                  <a:tcPr marL="54864" marR="54864" marT="18288" marB="18288" anchor="ctr">
                    <a:solidFill>
                      <a:srgbClr val="F7F9FB"/>
                    </a:solidFill>
                  </a:tcPr>
                </a:tc>
              </a:tr>
              <a:tr h="402336">
                <a:tc>
                  <a:txBody>
                    <a:bodyPr wrap="square"/>
                    <a:lstStyle/>
                    <a:p>
                      <a:pPr algn="l"/>
                      <a:r>
                        <a:rPr sz="1250" b="0">
                          <a:solidFill>
                            <a:srgbClr val="404040"/>
                          </a:solidFill>
                          <a:latin typeface="Arial"/>
                        </a:rPr>
                        <a:t>Fase 4. Documentación y entrega: manual, tutoriales y datos de demostración</a:t>
                      </a:r>
                    </a:p>
                  </a:txBody>
                  <a:tcPr marL="54864" marR="54864" marT="18288" marB="18288" anchor="ctr">
                    <a:solidFill>
                      <a:srgbClr val="FFFFFF"/>
                    </a:solidFill>
                  </a:tcPr>
                </a:tc>
                <a:tc>
                  <a:txBody>
                    <a:bodyPr wrap="square"/>
                    <a:lstStyle/>
                    <a:p>
                      <a:pPr algn="l"/>
                      <a:r>
                        <a:rPr sz="1250" b="0">
                          <a:solidFill>
                            <a:srgbClr val="404040"/>
                          </a:solidFill>
                          <a:latin typeface="Arial"/>
                        </a:rPr>
                        <a:t>Mes 5 - Mes 6</a:t>
                      </a:r>
                    </a:p>
                  </a:txBody>
                  <a:tcPr marL="54864" marR="54864" marT="18288" marB="18288" anchor="ctr">
                    <a:solidFill>
                      <a:srgbClr val="FFFFFF"/>
                    </a:solidFill>
                  </a:tcPr>
                </a:tc>
                <a:tc>
                  <a:txBody>
                    <a:bodyPr wrap="square"/>
                    <a:lstStyle/>
                    <a:p>
                      <a:pPr algn="l"/>
                      <a:r>
                        <a:rPr sz="1250" b="0">
                          <a:solidFill>
                            <a:srgbClr val="404040"/>
                          </a:solidFill>
                          <a:latin typeface="Arial"/>
                        </a:rPr>
                        <a:t>Todo el equipo</a:t>
                      </a:r>
                    </a:p>
                  </a:txBody>
                  <a:tcPr marL="54864" marR="54864" marT="18288" marB="18288" anchor="ctr">
                    <a:solidFill>
                      <a:srgbClr val="FFFFFF"/>
                    </a:solidFill>
                  </a:tcPr>
                </a:tc>
              </a:tr>
              <a:tr h="402336">
                <a:tc>
                  <a:txBody>
                    <a:bodyPr wrap="square"/>
                    <a:lstStyle/>
                    <a:p>
                      <a:pPr algn="l"/>
                      <a:r>
                        <a:rPr sz="1250" b="0">
                          <a:solidFill>
                            <a:srgbClr val="404040"/>
                          </a:solidFill>
                          <a:latin typeface="Arial"/>
                        </a:rPr>
                        <a:t>Fase 5. Despliegue en producción: nube, base de datos, HTTPS y respaldos</a:t>
                      </a:r>
                    </a:p>
                  </a:txBody>
                  <a:tcPr marL="54864" marR="54864" marT="18288" marB="18288" anchor="ctr">
                    <a:solidFill>
                      <a:srgbClr val="F7F9FB"/>
                    </a:solidFill>
                  </a:tcPr>
                </a:tc>
                <a:tc>
                  <a:txBody>
                    <a:bodyPr wrap="square"/>
                    <a:lstStyle/>
                    <a:p>
                      <a:pPr algn="l"/>
                      <a:r>
                        <a:rPr sz="1250" b="0">
                          <a:solidFill>
                            <a:srgbClr val="404040"/>
                          </a:solidFill>
                          <a:latin typeface="Arial"/>
                        </a:rPr>
                        <a:t>Mes 5 - Mes 7</a:t>
                      </a:r>
                    </a:p>
                  </a:txBody>
                  <a:tcPr marL="54864" marR="54864" marT="18288" marB="18288" anchor="ctr">
                    <a:solidFill>
                      <a:srgbClr val="F7F9FB"/>
                    </a:solidFill>
                  </a:tcPr>
                </a:tc>
                <a:tc>
                  <a:txBody>
                    <a:bodyPr wrap="square"/>
                    <a:lstStyle/>
                    <a:p>
                      <a:pPr algn="l"/>
                      <a:r>
                        <a:rPr sz="1250" b="0">
                          <a:solidFill>
                            <a:srgbClr val="404040"/>
                          </a:solidFill>
                          <a:latin typeface="Arial"/>
                        </a:rPr>
                        <a:t>Sneyder</a:t>
                      </a:r>
                    </a:p>
                  </a:txBody>
                  <a:tcPr marL="54864" marR="54864" marT="18288" marB="18288" anchor="ctr">
                    <a:solidFill>
                      <a:srgbClr val="F7F9FB"/>
                    </a:solidFill>
                  </a:tcPr>
                </a:tc>
              </a:tr>
              <a:tr h="402336">
                <a:tc>
                  <a:txBody>
                    <a:bodyPr wrap="square"/>
                    <a:lstStyle/>
                    <a:p>
                      <a:pPr algn="l"/>
                      <a:r>
                        <a:rPr sz="1250" b="0">
                          <a:solidFill>
                            <a:srgbClr val="404040"/>
                          </a:solidFill>
                          <a:latin typeface="Arial"/>
                        </a:rPr>
                        <a:t>Piloto con dos colegios asociados</a:t>
                      </a:r>
                    </a:p>
                  </a:txBody>
                  <a:tcPr marL="54864" marR="54864" marT="18288" marB="18288" anchor="ctr">
                    <a:solidFill>
                      <a:srgbClr val="FFFFFF"/>
                    </a:solidFill>
                  </a:tcPr>
                </a:tc>
                <a:tc>
                  <a:txBody>
                    <a:bodyPr wrap="square"/>
                    <a:lstStyle/>
                    <a:p>
                      <a:pPr algn="l"/>
                      <a:r>
                        <a:rPr sz="1250" b="0">
                          <a:solidFill>
                            <a:srgbClr val="404040"/>
                          </a:solidFill>
                          <a:latin typeface="Arial"/>
                        </a:rPr>
                        <a:t>Mes 6 - Mes 8</a:t>
                      </a:r>
                    </a:p>
                  </a:txBody>
                  <a:tcPr marL="54864" marR="54864" marT="18288" marB="18288" anchor="ctr">
                    <a:solidFill>
                      <a:srgbClr val="FFFFFF"/>
                    </a:solidFill>
                  </a:tcPr>
                </a:tc>
                <a:tc>
                  <a:txBody>
                    <a:bodyPr wrap="square"/>
                    <a:lstStyle/>
                    <a:p>
                      <a:pPr algn="l"/>
                      <a:r>
                        <a:rPr sz="1250" b="0">
                          <a:solidFill>
                            <a:srgbClr val="404040"/>
                          </a:solidFill>
                          <a:latin typeface="Arial"/>
                        </a:rPr>
                        <a:t>Yorman · Santiago</a:t>
                      </a:r>
                    </a:p>
                  </a:txBody>
                  <a:tcPr marL="54864" marR="54864" marT="18288" marB="18288" anchor="ctr">
                    <a:solidFill>
                      <a:srgbClr val="FFFFFF"/>
                    </a:solidFill>
                  </a:tcPr>
                </a:tc>
              </a:tr>
              <a:tr h="402336">
                <a:tc>
                  <a:txBody>
                    <a:bodyPr wrap="square"/>
                    <a:lstStyle/>
                    <a:p>
                      <a:pPr algn="l"/>
                      <a:r>
                        <a:rPr sz="1250" b="0">
                          <a:solidFill>
                            <a:srgbClr val="404040"/>
                          </a:solidFill>
                          <a:latin typeface="Arial"/>
                        </a:rPr>
                        <a:t>Comercialización y soporte del año 1</a:t>
                      </a:r>
                    </a:p>
                  </a:txBody>
                  <a:tcPr marL="54864" marR="54864" marT="18288" marB="18288" anchor="ctr">
                    <a:solidFill>
                      <a:srgbClr val="F7F9FB"/>
                    </a:solidFill>
                  </a:tcPr>
                </a:tc>
                <a:tc>
                  <a:txBody>
                    <a:bodyPr wrap="square"/>
                    <a:lstStyle/>
                    <a:p>
                      <a:pPr algn="l"/>
                      <a:r>
                        <a:rPr sz="1250" b="0">
                          <a:solidFill>
                            <a:srgbClr val="404040"/>
                          </a:solidFill>
                          <a:latin typeface="Arial"/>
                        </a:rPr>
                        <a:t>Mes 6 - Mes 12</a:t>
                      </a:r>
                    </a:p>
                  </a:txBody>
                  <a:tcPr marL="54864" marR="54864" marT="18288" marB="18288" anchor="ctr">
                    <a:solidFill>
                      <a:srgbClr val="F7F9FB"/>
                    </a:solidFill>
                  </a:tcPr>
                </a:tc>
                <a:tc>
                  <a:txBody>
                    <a:bodyPr wrap="square"/>
                    <a:lstStyle/>
                    <a:p>
                      <a:pPr algn="l"/>
                      <a:r>
                        <a:rPr sz="1250" b="0">
                          <a:solidFill>
                            <a:srgbClr val="404040"/>
                          </a:solidFill>
                          <a:latin typeface="Arial"/>
                        </a:rPr>
                        <a:t>Martín · Yorman</a:t>
                      </a:r>
                    </a:p>
                  </a:txBody>
                  <a:tcPr marL="54864" marR="54864" marT="18288" marB="18288" anchor="ctr">
                    <a:solidFill>
                      <a:srgbClr val="F7F9FB"/>
                    </a:solidFill>
                  </a:tcPr>
                </a:tc>
              </a:tr>
            </a:tbl>
          </a:graphicData>
        </a:graphic>
      </p:graphicFrame>
      <p:sp>
        <p:nvSpPr>
          <p:cNvPr id="5" name="TextBox 4"/>
          <p:cNvSpPr txBox="1"/>
          <p:nvPr/>
        </p:nvSpPr>
        <p:spPr>
          <a:xfrm>
            <a:off x="411480" y="5349240"/>
            <a:ext cx="11384280" cy="822960"/>
          </a:xfrm>
          <a:prstGeom prst="rect">
            <a:avLst/>
          </a:prstGeom>
          <a:noFill/>
        </p:spPr>
        <p:txBody>
          <a:bodyPr wrap="square" lIns="0" rIns="0">
            <a:spAutoFit/>
          </a:bodyPr>
          <a:lstStyle/>
          <a:p>
            <a:pPr algn="l">
              <a:spcBef>
                <a:spcPts val="0"/>
              </a:spcBef>
              <a:spcAft>
                <a:spcPts val="0"/>
              </a:spcAft>
            </a:pPr>
            <a:r>
              <a:rPr sz="1400" b="1" i="0">
                <a:solidFill>
                  <a:srgbClr val="1F4E79"/>
                </a:solidFill>
                <a:latin typeface="Arial"/>
              </a:rPr>
              <a:t>Las cinco fases van de estabilización a despliegue en producción. La comercialización va del mes 6 al mes 12: no se comercializa antes de tener el producto estable.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4.1  OPERACIÓN</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El proceso, paso a paso</a:t>
            </a:r>
          </a:p>
        </p:txBody>
      </p:sp>
      <p:graphicFrame>
        <p:nvGraphicFramePr>
          <p:cNvPr id="4" name="Table 3"/>
          <p:cNvGraphicFramePr>
            <a:graphicFrameLocks noGrp="1"/>
          </p:cNvGraphicFramePr>
          <p:nvPr/>
        </p:nvGraphicFramePr>
        <p:xfrm>
          <a:off x="411480" y="1554480"/>
          <a:ext cx="11384280" cy="3877056"/>
        </p:xfrm>
        <a:graphic>
          <a:graphicData uri="http://schemas.openxmlformats.org/drawingml/2006/table">
            <a:tbl>
              <a:tblPr firstRow="1" bandRow="1">
                <a:tableStyleId>{5C22544A-7EE6-4342-B048-85BDC9FD1C3A}</a:tableStyleId>
              </a:tblPr>
              <a:tblGrid>
                <a:gridCol w="3017520"/>
                <a:gridCol w="8366760"/>
              </a:tblGrid>
              <a:tr h="402336">
                <a:tc>
                  <a:txBody>
                    <a:bodyPr wrap="square"/>
                    <a:lstStyle/>
                    <a:p>
                      <a:pPr algn="l"/>
                      <a:r>
                        <a:rPr sz="1100" b="1">
                          <a:solidFill>
                            <a:srgbClr val="FFFFFF"/>
                          </a:solidFill>
                          <a:latin typeface="Arial"/>
                        </a:rPr>
                        <a:t>Etapa</a:t>
                      </a:r>
                    </a:p>
                  </a:txBody>
                  <a:tcPr marL="54864" marR="54864" marT="18288" marB="18288" anchor="ctr">
                    <a:solidFill>
                      <a:srgbClr val="1F4E79"/>
                    </a:solidFill>
                  </a:tcPr>
                </a:tc>
                <a:tc>
                  <a:txBody>
                    <a:bodyPr wrap="square"/>
                    <a:lstStyle/>
                    <a:p>
                      <a:pPr algn="l"/>
                      <a:r>
                        <a:rPr sz="1100" b="1">
                          <a:solidFill>
                            <a:srgbClr val="FFFFFF"/>
                          </a:solidFill>
                          <a:latin typeface="Arial"/>
                        </a:rPr>
                        <a:t>Qué pasa</a:t>
                      </a:r>
                    </a:p>
                  </a:txBody>
                  <a:tcPr marL="54864" marR="54864" marT="18288" marB="18288" anchor="ctr">
                    <a:solidFill>
                      <a:srgbClr val="1F4E79"/>
                    </a:solidFill>
                  </a:tcPr>
                </a:tc>
              </a:tr>
              <a:tr h="347472">
                <a:tc>
                  <a:txBody>
                    <a:bodyPr wrap="square"/>
                    <a:lstStyle/>
                    <a:p>
                      <a:pPr algn="l"/>
                      <a:r>
                        <a:rPr sz="1100" b="0">
                          <a:solidFill>
                            <a:srgbClr val="404040"/>
                          </a:solidFill>
                          <a:latin typeface="Arial"/>
                        </a:rPr>
                        <a:t>1. Prospección y contacto</a:t>
                      </a:r>
                    </a:p>
                  </a:txBody>
                  <a:tcPr marL="54864" marR="54864" marT="18288" marB="18288" anchor="ctr">
                    <a:solidFill>
                      <a:srgbClr val="FFFFFF"/>
                    </a:solidFill>
                  </a:tcPr>
                </a:tc>
                <a:tc>
                  <a:txBody>
                    <a:bodyPr wrap="square"/>
                    <a:lstStyle/>
                    <a:p>
                      <a:pPr algn="l"/>
                      <a:r>
                        <a:rPr sz="1100" b="0">
                          <a:solidFill>
                            <a:srgbClr val="404040"/>
                          </a:solidFill>
                          <a:latin typeface="Arial"/>
                        </a:rPr>
                        <a:t>Cita con el rector y la secretaría académica, y demostración en sitio con datos de ejemplo, sin compromiso</a:t>
                      </a:r>
                    </a:p>
                  </a:txBody>
                  <a:tcPr marL="54864" marR="54864" marT="18288" marB="18288" anchor="ctr">
                    <a:solidFill>
                      <a:srgbClr val="FFFFFF"/>
                    </a:solidFill>
                  </a:tcPr>
                </a:tc>
              </a:tr>
              <a:tr h="347472">
                <a:tc>
                  <a:txBody>
                    <a:bodyPr wrap="square"/>
                    <a:lstStyle/>
                    <a:p>
                      <a:pPr algn="l"/>
                      <a:r>
                        <a:rPr sz="1100" b="0">
                          <a:solidFill>
                            <a:srgbClr val="404040"/>
                          </a:solidFill>
                          <a:latin typeface="Arial"/>
                        </a:rPr>
                        <a:t>2. Diagnóstico y propuesta</a:t>
                      </a:r>
                    </a:p>
                  </a:txBody>
                  <a:tcPr marL="54864" marR="54864" marT="18288" marB="18288" anchor="ctr">
                    <a:solidFill>
                      <a:srgbClr val="F7F9FB"/>
                    </a:solidFill>
                  </a:tcPr>
                </a:tc>
                <a:tc>
                  <a:txBody>
                    <a:bodyPr wrap="square"/>
                    <a:lstStyle/>
                    <a:p>
                      <a:pPr algn="l"/>
                      <a:r>
                        <a:rPr sz="1100" b="0">
                          <a:solidFill>
                            <a:srgbClr val="404040"/>
                          </a:solidFill>
                          <a:latin typeface="Arial"/>
                        </a:rPr>
                        <a:t>Inventario de información del colegio y propuesta económica con el plan que corresponde a su tamaño</a:t>
                      </a:r>
                    </a:p>
                  </a:txBody>
                  <a:tcPr marL="54864" marR="54864" marT="18288" marB="18288" anchor="ctr">
                    <a:solidFill>
                      <a:srgbClr val="F7F9FB"/>
                    </a:solidFill>
                  </a:tcPr>
                </a:tc>
              </a:tr>
              <a:tr h="347472">
                <a:tc>
                  <a:txBody>
                    <a:bodyPr wrap="square"/>
                    <a:lstStyle/>
                    <a:p>
                      <a:pPr algn="l"/>
                      <a:r>
                        <a:rPr sz="1100" b="0">
                          <a:solidFill>
                            <a:srgbClr val="404040"/>
                          </a:solidFill>
                          <a:latin typeface="Arial"/>
                        </a:rPr>
                        <a:t>3. Suscripción y anticipo</a:t>
                      </a:r>
                    </a:p>
                  </a:txBody>
                  <a:tcPr marL="54864" marR="54864" marT="18288" marB="18288" anchor="ctr">
                    <a:solidFill>
                      <a:srgbClr val="FFFFFF"/>
                    </a:solidFill>
                  </a:tcPr>
                </a:tc>
                <a:tc>
                  <a:txBody>
                    <a:bodyPr wrap="square"/>
                    <a:lstStyle/>
                    <a:p>
                      <a:pPr algn="l"/>
                      <a:r>
                        <a:rPr sz="1100" b="0">
                          <a:solidFill>
                            <a:srgbClr val="404040"/>
                          </a:solidFill>
                          <a:latin typeface="Arial"/>
                        </a:rPr>
                        <a:t>Firma del contrato, anticipo, número de cliente y espacio del colegio en la plataforma</a:t>
                      </a:r>
                    </a:p>
                  </a:txBody>
                  <a:tcPr marL="54864" marR="54864" marT="18288" marB="18288" anchor="ctr">
                    <a:solidFill>
                      <a:srgbClr val="FFFFFF"/>
                    </a:solidFill>
                  </a:tcPr>
                </a:tc>
              </a:tr>
              <a:tr h="347472">
                <a:tc>
                  <a:txBody>
                    <a:bodyPr wrap="square"/>
                    <a:lstStyle/>
                    <a:p>
                      <a:pPr algn="l"/>
                      <a:r>
                        <a:rPr sz="1100" b="0">
                          <a:solidFill>
                            <a:srgbClr val="404040"/>
                          </a:solidFill>
                          <a:latin typeface="Arial"/>
                        </a:rPr>
                        <a:t>4. Parametrización</a:t>
                      </a:r>
                    </a:p>
                  </a:txBody>
                  <a:tcPr marL="54864" marR="54864" marT="18288" marB="18288" anchor="ctr">
                    <a:solidFill>
                      <a:srgbClr val="F7F9FB"/>
                    </a:solidFill>
                  </a:tcPr>
                </a:tc>
                <a:tc>
                  <a:txBody>
                    <a:bodyPr wrap="square"/>
                    <a:lstStyle/>
                    <a:p>
                      <a:pPr algn="l"/>
                      <a:r>
                        <a:rPr sz="1100" b="0">
                          <a:solidFill>
                            <a:srgbClr val="404040"/>
                          </a:solidFill>
                          <a:latin typeface="Arial"/>
                        </a:rPr>
                        <a:t>Logotipo, años académicos, escala de calificación, reglas de recuperación y habilitación, cargos y usuarios con su rol</a:t>
                      </a:r>
                    </a:p>
                  </a:txBody>
                  <a:tcPr marL="54864" marR="54864" marT="18288" marB="18288" anchor="ctr">
                    <a:solidFill>
                      <a:srgbClr val="F7F9FB"/>
                    </a:solidFill>
                  </a:tcPr>
                </a:tc>
              </a:tr>
              <a:tr h="347472">
                <a:tc>
                  <a:txBody>
                    <a:bodyPr wrap="square"/>
                    <a:lstStyle/>
                    <a:p>
                      <a:pPr algn="l"/>
                      <a:r>
                        <a:rPr sz="1100" b="0">
                          <a:solidFill>
                            <a:srgbClr val="404040"/>
                          </a:solidFill>
                          <a:latin typeface="Arial"/>
                        </a:rPr>
                        <a:t>5. Migración y carga de datos</a:t>
                      </a:r>
                    </a:p>
                  </a:txBody>
                  <a:tcPr marL="54864" marR="54864" marT="18288" marB="18288" anchor="ctr">
                    <a:solidFill>
                      <a:srgbClr val="FFFFFF"/>
                    </a:solidFill>
                  </a:tcPr>
                </a:tc>
                <a:tc>
                  <a:txBody>
                    <a:bodyPr wrap="square"/>
                    <a:lstStyle/>
                    <a:p>
                      <a:pPr algn="l"/>
                      <a:r>
                        <a:rPr sz="1100" b="0">
                          <a:solidFill>
                            <a:srgbClr val="404040"/>
                          </a:solidFill>
                          <a:latin typeface="Arial"/>
                        </a:rPr>
                        <a:t>Importación desde el sistema anterior o archivos Excel y CSV; se valida que no queden duplicados ni campos incompletos</a:t>
                      </a:r>
                    </a:p>
                  </a:txBody>
                  <a:tcPr marL="54864" marR="54864" marT="18288" marB="18288" anchor="ctr">
                    <a:solidFill>
                      <a:srgbClr val="FFFFFF"/>
                    </a:solidFill>
                  </a:tcPr>
                </a:tc>
              </a:tr>
              <a:tr h="347472">
                <a:tc>
                  <a:txBody>
                    <a:bodyPr wrap="square"/>
                    <a:lstStyle/>
                    <a:p>
                      <a:pPr algn="l"/>
                      <a:r>
                        <a:rPr sz="1100" b="0">
                          <a:solidFill>
                            <a:srgbClr val="404040"/>
                          </a:solidFill>
                          <a:latin typeface="Arial"/>
                        </a:rPr>
                        <a:t>6. Capacitación</a:t>
                      </a:r>
                    </a:p>
                  </a:txBody>
                  <a:tcPr marL="54864" marR="54864" marT="18288" marB="18288" anchor="ctr">
                    <a:solidFill>
                      <a:srgbClr val="F7F9FB"/>
                    </a:solidFill>
                  </a:tcPr>
                </a:tc>
                <a:tc>
                  <a:txBody>
                    <a:bodyPr wrap="square"/>
                    <a:lstStyle/>
                    <a:p>
                      <a:pPr algn="l"/>
                      <a:r>
                        <a:rPr sz="1100" b="0">
                          <a:solidFill>
                            <a:srgbClr val="404040"/>
                          </a:solidFill>
                          <a:latin typeface="Arial"/>
                        </a:rPr>
                        <a:t>Dos jornadas: una para el personal administrativo y otra para docentes y apoderados, más manual y videos tutoriales</a:t>
                      </a:r>
                    </a:p>
                  </a:txBody>
                  <a:tcPr marL="54864" marR="54864" marT="18288" marB="18288" anchor="ctr">
                    <a:solidFill>
                      <a:srgbClr val="F7F9FB"/>
                    </a:solidFill>
                  </a:tcPr>
                </a:tc>
              </a:tr>
              <a:tr h="347472">
                <a:tc>
                  <a:txBody>
                    <a:bodyPr wrap="square"/>
                    <a:lstStyle/>
                    <a:p>
                      <a:pPr algn="l"/>
                      <a:r>
                        <a:rPr sz="1100" b="0">
                          <a:solidFill>
                            <a:srgbClr val="404040"/>
                          </a:solidFill>
                          <a:latin typeface="Arial"/>
                        </a:rPr>
                        <a:t>7. Puesta en marcha</a:t>
                      </a:r>
                    </a:p>
                  </a:txBody>
                  <a:tcPr marL="54864" marR="54864" marT="18288" marB="18288" anchor="ctr">
                    <a:solidFill>
                      <a:srgbClr val="FFFFFF"/>
                    </a:solidFill>
                  </a:tcPr>
                </a:tc>
                <a:tc>
                  <a:txBody>
                    <a:bodyPr wrap="square"/>
                    <a:lstStyle/>
                    <a:p>
                      <a:pPr algn="l"/>
                      <a:r>
                        <a:rPr sz="1100" b="0">
                          <a:solidFill>
                            <a:srgbClr val="404040"/>
                          </a:solidFill>
                          <a:latin typeface="Arial"/>
                        </a:rPr>
                        <a:t>Período de prueba de 30 días con acompañamiento diario y validación del primer ciclo completo de calificaciones y boletines</a:t>
                      </a:r>
                    </a:p>
                  </a:txBody>
                  <a:tcPr marL="54864" marR="54864" marT="18288" marB="18288" anchor="ctr">
                    <a:solidFill>
                      <a:srgbClr val="FFFFFF"/>
                    </a:solidFill>
                  </a:tcPr>
                </a:tc>
              </a:tr>
              <a:tr h="347472">
                <a:tc>
                  <a:txBody>
                    <a:bodyPr wrap="square"/>
                    <a:lstStyle/>
                    <a:p>
                      <a:pPr algn="l"/>
                      <a:r>
                        <a:rPr sz="1100" b="0">
                          <a:solidFill>
                            <a:srgbClr val="404040"/>
                          </a:solidFill>
                          <a:latin typeface="Arial"/>
                        </a:rPr>
                        <a:t>8. Operación y soporte</a:t>
                      </a:r>
                    </a:p>
                  </a:txBody>
                  <a:tcPr marL="54864" marR="54864" marT="18288" marB="18288" anchor="ctr">
                    <a:solidFill>
                      <a:srgbClr val="F7F9FB"/>
                    </a:solidFill>
                  </a:tcPr>
                </a:tc>
                <a:tc>
                  <a:txBody>
                    <a:bodyPr wrap="square"/>
                    <a:lstStyle/>
                    <a:p>
                      <a:pPr algn="l"/>
                      <a:r>
                        <a:rPr sz="1100" b="0">
                          <a:solidFill>
                            <a:srgbClr val="404040"/>
                          </a:solidFill>
                          <a:latin typeface="Arial"/>
                        </a:rPr>
                        <a:t>Soporte por correo, mensajería y teléfono en horario de oficina, con respaldos automáticos diarios</a:t>
                      </a:r>
                    </a:p>
                  </a:txBody>
                  <a:tcPr marL="54864" marR="54864" marT="18288" marB="18288" anchor="ctr">
                    <a:solidFill>
                      <a:srgbClr val="F7F9FB"/>
                    </a:solidFill>
                  </a:tcPr>
                </a:tc>
              </a:tr>
              <a:tr h="347472">
                <a:tc>
                  <a:txBody>
                    <a:bodyPr wrap="square"/>
                    <a:lstStyle/>
                    <a:p>
                      <a:pPr algn="l"/>
                      <a:r>
                        <a:rPr sz="1100" b="0">
                          <a:solidFill>
                            <a:srgbClr val="404040"/>
                          </a:solidFill>
                          <a:latin typeface="Arial"/>
                        </a:rPr>
                        <a:t>9. Seguimiento y mejora</a:t>
                      </a:r>
                    </a:p>
                  </a:txBody>
                  <a:tcPr marL="54864" marR="54864" marT="18288" marB="18288" anchor="ctr">
                    <a:solidFill>
                      <a:srgbClr val="FFFFFF"/>
                    </a:solidFill>
                  </a:tcPr>
                </a:tc>
                <a:tc>
                  <a:txBody>
                    <a:bodyPr wrap="square"/>
                    <a:lstStyle/>
                    <a:p>
                      <a:pPr algn="l"/>
                      <a:r>
                        <a:rPr sz="1100" b="0">
                          <a:solidFill>
                            <a:srgbClr val="404040"/>
                          </a:solidFill>
                          <a:latin typeface="Arial"/>
                        </a:rPr>
                        <a:t>Una vez al mes se revisa el uso, las solicitudes van a la hoja de ruta y se priorizan los ajustes</a:t>
                      </a:r>
                    </a:p>
                  </a:txBody>
                  <a:tcPr marL="54864" marR="54864" marT="18288" marB="18288" anchor="ctr">
                    <a:solidFill>
                      <a:srgbClr val="FFFFFF"/>
                    </a:solidFill>
                  </a:tcPr>
                </a:tc>
              </a:tr>
              <a:tr h="347472">
                <a:tc>
                  <a:txBody>
                    <a:bodyPr wrap="square"/>
                    <a:lstStyle/>
                    <a:p>
                      <a:pPr algn="l"/>
                      <a:r>
                        <a:rPr sz="1100" b="0">
                          <a:solidFill>
                            <a:srgbClr val="404040"/>
                          </a:solidFill>
                          <a:latin typeface="Arial"/>
                        </a:rPr>
                        <a:t>10. Renovación</a:t>
                      </a:r>
                    </a:p>
                  </a:txBody>
                  <a:tcPr marL="54864" marR="54864" marT="18288" marB="18288" anchor="ctr">
                    <a:solidFill>
                      <a:srgbClr val="F7F9FB"/>
                    </a:solidFill>
                  </a:tcPr>
                </a:tc>
                <a:tc>
                  <a:txBody>
                    <a:bodyPr wrap="square"/>
                    <a:lstStyle/>
                    <a:p>
                      <a:pPr algn="l"/>
                      <a:r>
                        <a:rPr sz="1100" b="0">
                          <a:solidFill>
                            <a:srgbClr val="404040"/>
                          </a:solidFill>
                          <a:latin typeface="Arial"/>
                        </a:rPr>
                        <a:t>Suscripción siguiente con descuento por pronto pago y ampliación de módulos o usuarios</a:t>
                      </a:r>
                    </a:p>
                  </a:txBody>
                  <a:tcPr marL="54864" marR="54864" marT="18288" marB="18288" anchor="ctr">
                    <a:solidFill>
                      <a:srgbClr val="F7F9FB"/>
                    </a:solidFill>
                  </a:tcPr>
                </a:tc>
              </a:tr>
            </a:tbl>
          </a:graphicData>
        </a:graphic>
      </p:graphicFrame>
      <p:sp>
        <p:nvSpPr>
          <p:cNvPr id="5" name="TextBox 4"/>
          <p:cNvSpPr txBox="1"/>
          <p:nvPr/>
        </p:nvSpPr>
        <p:spPr>
          <a:xfrm>
            <a:off x="411480" y="5623560"/>
            <a:ext cx="11384280" cy="640080"/>
          </a:xfrm>
          <a:prstGeom prst="rect">
            <a:avLst/>
          </a:prstGeom>
          <a:noFill/>
        </p:spPr>
        <p:txBody>
          <a:bodyPr wrap="square" lIns="0" rIns="0">
            <a:spAutoFit/>
          </a:bodyPr>
          <a:lstStyle/>
          <a:p>
            <a:pPr algn="l">
              <a:spcBef>
                <a:spcPts val="0"/>
              </a:spcBef>
              <a:spcAft>
                <a:spcPts val="0"/>
              </a:spcAft>
            </a:pPr>
            <a:r>
              <a:rPr sz="1400" b="1" i="0">
                <a:solidFill>
                  <a:srgbClr val="B03030"/>
                </a:solidFill>
                <a:latin typeface="Arial"/>
              </a:rPr>
              <a:t>Dos etapas deciden el resultado: la 5, la principal barrera de entrada, y la 7, el período de prueba de 30 días.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Costos, ingresos y punto de equilibrio</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16 colegios suscritos</a:t>
            </a:r>
          </a:p>
        </p:txBody>
      </p:sp>
      <p:sp>
        <p:nvSpPr>
          <p:cNvPr id="4" name="TextBox 3"/>
          <p:cNvSpPr txBox="1"/>
          <p:nvPr/>
        </p:nvSpPr>
        <p:spPr>
          <a:xfrm>
            <a:off x="411480" y="1463040"/>
            <a:ext cx="11384280" cy="685800"/>
          </a:xfrm>
          <a:prstGeom prst="rect">
            <a:avLst/>
          </a:prstGeom>
          <a:noFill/>
        </p:spPr>
        <p:txBody>
          <a:bodyPr wrap="square" lIns="0" rIns="0">
            <a:spAutoFit/>
          </a:bodyPr>
          <a:lstStyle/>
          <a:p>
            <a:pPr algn="l">
              <a:spcBef>
                <a:spcPts val="0"/>
              </a:spcBef>
              <a:spcAft>
                <a:spcPts val="600"/>
              </a:spcAft>
            </a:pPr>
            <a:r>
              <a:rPr sz="1500" b="0" i="0">
                <a:solidFill>
                  <a:srgbClr val="404040"/>
                </a:solidFill>
                <a:latin typeface="Arial"/>
              </a:rPr>
              <a:t>Cada colegio deja $5.270.000 de margen de contribución. Contra $82.435.000 de costos fijos, el equilibrio cae en 16 colegios suscritos.</a:t>
            </a:r>
          </a:p>
        </p:txBody>
      </p:sp>
      <p:graphicFrame>
        <p:nvGraphicFramePr>
          <p:cNvPr id="5" name="Table 4"/>
          <p:cNvGraphicFramePr>
            <a:graphicFrameLocks noGrp="1"/>
          </p:cNvGraphicFramePr>
          <p:nvPr/>
        </p:nvGraphicFramePr>
        <p:xfrm>
          <a:off x="411480" y="2148840"/>
          <a:ext cx="6035039" cy="2980944"/>
        </p:xfrm>
        <a:graphic>
          <a:graphicData uri="http://schemas.openxmlformats.org/drawingml/2006/table">
            <a:tbl>
              <a:tblPr firstRow="1" bandRow="1">
                <a:tableStyleId>{5C22544A-7EE6-4342-B048-85BDC9FD1C3A}</a:tableStyleId>
              </a:tblPr>
              <a:tblGrid>
                <a:gridCol w="1534332"/>
                <a:gridCol w="2352642"/>
                <a:gridCol w="2148065"/>
              </a:tblGrid>
              <a:tr h="420624">
                <a:tc>
                  <a:txBody>
                    <a:bodyPr wrap="square"/>
                    <a:lstStyle/>
                    <a:p>
                      <a:pPr algn="ctr"/>
                      <a:r>
                        <a:rPr sz="1250" b="1">
                          <a:solidFill>
                            <a:srgbClr val="FFFFFF"/>
                          </a:solidFill>
                          <a:latin typeface="Arial"/>
                        </a:rPr>
                        <a:t>Colegios</a:t>
                      </a:r>
                    </a:p>
                  </a:txBody>
                  <a:tcPr marL="54864" marR="54864" marT="18288" marB="18288" anchor="ctr">
                    <a:solidFill>
                      <a:srgbClr val="1F4E79"/>
                    </a:solidFill>
                  </a:tcPr>
                </a:tc>
                <a:tc>
                  <a:txBody>
                    <a:bodyPr wrap="square"/>
                    <a:lstStyle/>
                    <a:p>
                      <a:pPr algn="r"/>
                      <a:r>
                        <a:rPr sz="1250" b="1">
                          <a:solidFill>
                            <a:srgbClr val="FFFFFF"/>
                          </a:solidFill>
                          <a:latin typeface="Arial"/>
                        </a:rPr>
                        <a:t>Ingreso del año</a:t>
                      </a:r>
                    </a:p>
                  </a:txBody>
                  <a:tcPr marL="54864" marR="54864" marT="18288" marB="18288" anchor="ctr">
                    <a:solidFill>
                      <a:srgbClr val="1F4E79"/>
                    </a:solidFill>
                  </a:tcPr>
                </a:tc>
                <a:tc>
                  <a:txBody>
                    <a:bodyPr wrap="square"/>
                    <a:lstStyle/>
                    <a:p>
                      <a:pPr algn="r"/>
                      <a:r>
                        <a:rPr sz="1250" b="1">
                          <a:solidFill>
                            <a:srgbClr val="FFFFFF"/>
                          </a:solidFill>
                          <a:latin typeface="Arial"/>
                        </a:rPr>
                        <a:t>Utilidad</a:t>
                      </a:r>
                    </a:p>
                  </a:txBody>
                  <a:tcPr marL="54864" marR="54864" marT="18288" marB="18288" anchor="ctr">
                    <a:solidFill>
                      <a:srgbClr val="1F4E79"/>
                    </a:solidFill>
                  </a:tcPr>
                </a:tc>
              </a:tr>
              <a:tr h="365760">
                <a:tc>
                  <a:txBody>
                    <a:bodyPr wrap="square"/>
                    <a:lstStyle/>
                    <a:p>
                      <a:pPr algn="ctr"/>
                      <a:r>
                        <a:rPr sz="1250" b="0">
                          <a:solidFill>
                            <a:srgbClr val="404040"/>
                          </a:solidFill>
                          <a:latin typeface="Arial"/>
                        </a:rPr>
                        <a:t>14</a:t>
                      </a:r>
                    </a:p>
                  </a:txBody>
                  <a:tcPr marL="54864" marR="54864" marT="18288" marB="18288" anchor="ctr">
                    <a:solidFill>
                      <a:srgbClr val="FFFFFF"/>
                    </a:solidFill>
                  </a:tcPr>
                </a:tc>
                <a:tc>
                  <a:txBody>
                    <a:bodyPr wrap="square"/>
                    <a:lstStyle/>
                    <a:p>
                      <a:pPr algn="r"/>
                      <a:r>
                        <a:rPr sz="1250" b="0">
                          <a:solidFill>
                            <a:srgbClr val="404040"/>
                          </a:solidFill>
                          <a:latin typeface="Arial"/>
                        </a:rPr>
                        <a:t>$77.700.000</a:t>
                      </a:r>
                    </a:p>
                  </a:txBody>
                  <a:tcPr marL="54864" marR="54864" marT="18288" marB="18288" anchor="ctr">
                    <a:solidFill>
                      <a:srgbClr val="FFFFFF"/>
                    </a:solidFill>
                  </a:tcPr>
                </a:tc>
                <a:tc>
                  <a:txBody>
                    <a:bodyPr wrap="square"/>
                    <a:lstStyle/>
                    <a:p>
                      <a:pPr algn="r"/>
                      <a:r>
                        <a:rPr sz="1250" b="0">
                          <a:solidFill>
                            <a:srgbClr val="404040"/>
                          </a:solidFill>
                          <a:latin typeface="Arial"/>
                        </a:rPr>
                        <a:t>−$8.655.000</a:t>
                      </a:r>
                    </a:p>
                  </a:txBody>
                  <a:tcPr marL="54864" marR="54864" marT="18288" marB="18288" anchor="ctr">
                    <a:solidFill>
                      <a:srgbClr val="FFFFFF"/>
                    </a:solidFill>
                  </a:tcPr>
                </a:tc>
              </a:tr>
              <a:tr h="365760">
                <a:tc>
                  <a:txBody>
                    <a:bodyPr wrap="square"/>
                    <a:lstStyle/>
                    <a:p>
                      <a:pPr algn="ctr"/>
                      <a:r>
                        <a:rPr sz="1250" b="0">
                          <a:solidFill>
                            <a:srgbClr val="404040"/>
                          </a:solidFill>
                          <a:latin typeface="Arial"/>
                        </a:rPr>
                        <a:t>15</a:t>
                      </a:r>
                    </a:p>
                  </a:txBody>
                  <a:tcPr marL="54864" marR="54864" marT="18288" marB="18288" anchor="ctr">
                    <a:solidFill>
                      <a:srgbClr val="F7F9FB"/>
                    </a:solidFill>
                  </a:tcPr>
                </a:tc>
                <a:tc>
                  <a:txBody>
                    <a:bodyPr wrap="square"/>
                    <a:lstStyle/>
                    <a:p>
                      <a:pPr algn="r"/>
                      <a:r>
                        <a:rPr sz="1250" b="0">
                          <a:solidFill>
                            <a:srgbClr val="404040"/>
                          </a:solidFill>
                          <a:latin typeface="Arial"/>
                        </a:rPr>
                        <a:t>$83.250.000</a:t>
                      </a:r>
                    </a:p>
                  </a:txBody>
                  <a:tcPr marL="54864" marR="54864" marT="18288" marB="18288" anchor="ctr">
                    <a:solidFill>
                      <a:srgbClr val="F7F9FB"/>
                    </a:solidFill>
                  </a:tcPr>
                </a:tc>
                <a:tc>
                  <a:txBody>
                    <a:bodyPr wrap="square"/>
                    <a:lstStyle/>
                    <a:p>
                      <a:pPr algn="r"/>
                      <a:r>
                        <a:rPr sz="1250" b="0">
                          <a:solidFill>
                            <a:srgbClr val="404040"/>
                          </a:solidFill>
                          <a:latin typeface="Arial"/>
                        </a:rPr>
                        <a:t>−$3.385.000</a:t>
                      </a:r>
                    </a:p>
                  </a:txBody>
                  <a:tcPr marL="54864" marR="54864" marT="18288" marB="18288" anchor="ctr">
                    <a:solidFill>
                      <a:srgbClr val="F7F9FB"/>
                    </a:solidFill>
                  </a:tcPr>
                </a:tc>
              </a:tr>
              <a:tr h="365760">
                <a:tc>
                  <a:txBody>
                    <a:bodyPr wrap="square"/>
                    <a:lstStyle/>
                    <a:p>
                      <a:pPr algn="ctr"/>
                      <a:r>
                        <a:rPr sz="1250" b="1">
                          <a:solidFill>
                            <a:srgbClr val="FFFFFF"/>
                          </a:solidFill>
                          <a:latin typeface="Arial"/>
                        </a:rPr>
                        <a:t>16</a:t>
                      </a:r>
                    </a:p>
                  </a:txBody>
                  <a:tcPr marL="54864" marR="54864" marT="18288" marB="18288" anchor="ctr">
                    <a:solidFill>
                      <a:srgbClr val="2E74B5"/>
                    </a:solidFill>
                  </a:tcPr>
                </a:tc>
                <a:tc>
                  <a:txBody>
                    <a:bodyPr wrap="square"/>
                    <a:lstStyle/>
                    <a:p>
                      <a:pPr algn="r"/>
                      <a:r>
                        <a:rPr sz="1250" b="1">
                          <a:solidFill>
                            <a:srgbClr val="FFFFFF"/>
                          </a:solidFill>
                          <a:latin typeface="Arial"/>
                        </a:rPr>
                        <a:t>$88.800.000</a:t>
                      </a:r>
                    </a:p>
                  </a:txBody>
                  <a:tcPr marL="54864" marR="54864" marT="18288" marB="18288" anchor="ctr">
                    <a:solidFill>
                      <a:srgbClr val="2E74B5"/>
                    </a:solidFill>
                  </a:tcPr>
                </a:tc>
                <a:tc>
                  <a:txBody>
                    <a:bodyPr wrap="square"/>
                    <a:lstStyle/>
                    <a:p>
                      <a:pPr algn="r"/>
                      <a:r>
                        <a:rPr sz="1250" b="1">
                          <a:solidFill>
                            <a:srgbClr val="FFFFFF"/>
                          </a:solidFill>
                          <a:latin typeface="Arial"/>
                        </a:rPr>
                        <a:t>+$1.885.000</a:t>
                      </a:r>
                    </a:p>
                  </a:txBody>
                  <a:tcPr marL="54864" marR="54864" marT="18288" marB="18288" anchor="ctr">
                    <a:solidFill>
                      <a:srgbClr val="2E74B5"/>
                    </a:solidFill>
                  </a:tcPr>
                </a:tc>
              </a:tr>
              <a:tr h="365760">
                <a:tc>
                  <a:txBody>
                    <a:bodyPr wrap="square"/>
                    <a:lstStyle/>
                    <a:p>
                      <a:pPr algn="ctr"/>
                      <a:r>
                        <a:rPr sz="1250" b="0">
                          <a:solidFill>
                            <a:srgbClr val="404040"/>
                          </a:solidFill>
                          <a:latin typeface="Arial"/>
                        </a:rPr>
                        <a:t>17</a:t>
                      </a:r>
                    </a:p>
                  </a:txBody>
                  <a:tcPr marL="54864" marR="54864" marT="18288" marB="18288" anchor="ctr">
                    <a:solidFill>
                      <a:srgbClr val="F7F9FB"/>
                    </a:solidFill>
                  </a:tcPr>
                </a:tc>
                <a:tc>
                  <a:txBody>
                    <a:bodyPr wrap="square"/>
                    <a:lstStyle/>
                    <a:p>
                      <a:pPr algn="r"/>
                      <a:r>
                        <a:rPr sz="1250" b="0">
                          <a:solidFill>
                            <a:srgbClr val="404040"/>
                          </a:solidFill>
                          <a:latin typeface="Arial"/>
                        </a:rPr>
                        <a:t>$94.350.000</a:t>
                      </a:r>
                    </a:p>
                  </a:txBody>
                  <a:tcPr marL="54864" marR="54864" marT="18288" marB="18288" anchor="ctr">
                    <a:solidFill>
                      <a:srgbClr val="F7F9FB"/>
                    </a:solidFill>
                  </a:tcPr>
                </a:tc>
                <a:tc>
                  <a:txBody>
                    <a:bodyPr wrap="square"/>
                    <a:lstStyle/>
                    <a:p>
                      <a:pPr algn="r"/>
                      <a:r>
                        <a:rPr sz="1250" b="0">
                          <a:solidFill>
                            <a:srgbClr val="404040"/>
                          </a:solidFill>
                          <a:latin typeface="Arial"/>
                        </a:rPr>
                        <a:t>+$7.155.000</a:t>
                      </a:r>
                    </a:p>
                  </a:txBody>
                  <a:tcPr marL="54864" marR="54864" marT="18288" marB="18288" anchor="ctr">
                    <a:solidFill>
                      <a:srgbClr val="F7F9FB"/>
                    </a:solidFill>
                  </a:tcPr>
                </a:tc>
              </a:tr>
              <a:tr h="365760">
                <a:tc>
                  <a:txBody>
                    <a:bodyPr wrap="square"/>
                    <a:lstStyle/>
                    <a:p>
                      <a:pPr algn="ctr"/>
                      <a:r>
                        <a:rPr sz="1250" b="0">
                          <a:solidFill>
                            <a:srgbClr val="404040"/>
                          </a:solidFill>
                          <a:latin typeface="Arial"/>
                        </a:rPr>
                        <a:t>18</a:t>
                      </a:r>
                    </a:p>
                  </a:txBody>
                  <a:tcPr marL="54864" marR="54864" marT="18288" marB="18288" anchor="ctr">
                    <a:solidFill>
                      <a:srgbClr val="FFFFFF"/>
                    </a:solidFill>
                  </a:tcPr>
                </a:tc>
                <a:tc>
                  <a:txBody>
                    <a:bodyPr wrap="square"/>
                    <a:lstStyle/>
                    <a:p>
                      <a:pPr algn="r"/>
                      <a:r>
                        <a:rPr sz="1250" b="0">
                          <a:solidFill>
                            <a:srgbClr val="404040"/>
                          </a:solidFill>
                          <a:latin typeface="Arial"/>
                        </a:rPr>
                        <a:t>$99.900.000</a:t>
                      </a:r>
                    </a:p>
                  </a:txBody>
                  <a:tcPr marL="54864" marR="54864" marT="18288" marB="18288" anchor="ctr">
                    <a:solidFill>
                      <a:srgbClr val="FFFFFF"/>
                    </a:solidFill>
                  </a:tcPr>
                </a:tc>
                <a:tc>
                  <a:txBody>
                    <a:bodyPr wrap="square"/>
                    <a:lstStyle/>
                    <a:p>
                      <a:pPr algn="r"/>
                      <a:r>
                        <a:rPr sz="1250" b="0">
                          <a:solidFill>
                            <a:srgbClr val="404040"/>
                          </a:solidFill>
                          <a:latin typeface="Arial"/>
                        </a:rPr>
                        <a:t>+$12.425.000</a:t>
                      </a:r>
                    </a:p>
                  </a:txBody>
                  <a:tcPr marL="54864" marR="54864" marT="18288" marB="18288" anchor="ctr">
                    <a:solidFill>
                      <a:srgbClr val="FFFFFF"/>
                    </a:solidFill>
                  </a:tcPr>
                </a:tc>
              </a:tr>
              <a:tr h="365760">
                <a:tc>
                  <a:txBody>
                    <a:bodyPr wrap="square"/>
                    <a:lstStyle/>
                    <a:p>
                      <a:pPr algn="ctr"/>
                      <a:r>
                        <a:rPr sz="1250" b="0">
                          <a:solidFill>
                            <a:srgbClr val="404040"/>
                          </a:solidFill>
                          <a:latin typeface="Arial"/>
                        </a:rPr>
                        <a:t>19</a:t>
                      </a:r>
                    </a:p>
                  </a:txBody>
                  <a:tcPr marL="54864" marR="54864" marT="18288" marB="18288" anchor="ctr">
                    <a:solidFill>
                      <a:srgbClr val="F7F9FB"/>
                    </a:solidFill>
                  </a:tcPr>
                </a:tc>
                <a:tc>
                  <a:txBody>
                    <a:bodyPr wrap="square"/>
                    <a:lstStyle/>
                    <a:p>
                      <a:pPr algn="r"/>
                      <a:r>
                        <a:rPr sz="1250" b="0">
                          <a:solidFill>
                            <a:srgbClr val="404040"/>
                          </a:solidFill>
                          <a:latin typeface="Arial"/>
                        </a:rPr>
                        <a:t>$105.450.000</a:t>
                      </a:r>
                    </a:p>
                  </a:txBody>
                  <a:tcPr marL="54864" marR="54864" marT="18288" marB="18288" anchor="ctr">
                    <a:solidFill>
                      <a:srgbClr val="F7F9FB"/>
                    </a:solidFill>
                  </a:tcPr>
                </a:tc>
                <a:tc>
                  <a:txBody>
                    <a:bodyPr wrap="square"/>
                    <a:lstStyle/>
                    <a:p>
                      <a:pPr algn="r"/>
                      <a:r>
                        <a:rPr sz="1250" b="0">
                          <a:solidFill>
                            <a:srgbClr val="404040"/>
                          </a:solidFill>
                          <a:latin typeface="Arial"/>
                        </a:rPr>
                        <a:t>+$17.695.000</a:t>
                      </a:r>
                    </a:p>
                  </a:txBody>
                  <a:tcPr marL="54864" marR="54864" marT="18288" marB="18288" anchor="ctr">
                    <a:solidFill>
                      <a:srgbClr val="F7F9FB"/>
                    </a:solidFill>
                  </a:tcPr>
                </a:tc>
              </a:tr>
              <a:tr h="365760">
                <a:tc>
                  <a:txBody>
                    <a:bodyPr wrap="square"/>
                    <a:lstStyle/>
                    <a:p>
                      <a:pPr algn="ctr"/>
                      <a:r>
                        <a:rPr sz="1250" b="0">
                          <a:solidFill>
                            <a:srgbClr val="404040"/>
                          </a:solidFill>
                          <a:latin typeface="Arial"/>
                        </a:rPr>
                        <a:t>20</a:t>
                      </a:r>
                    </a:p>
                  </a:txBody>
                  <a:tcPr marL="54864" marR="54864" marT="18288" marB="18288" anchor="ctr">
                    <a:solidFill>
                      <a:srgbClr val="FFFFFF"/>
                    </a:solidFill>
                  </a:tcPr>
                </a:tc>
                <a:tc>
                  <a:txBody>
                    <a:bodyPr wrap="square"/>
                    <a:lstStyle/>
                    <a:p>
                      <a:pPr algn="r"/>
                      <a:r>
                        <a:rPr sz="1250" b="0">
                          <a:solidFill>
                            <a:srgbClr val="404040"/>
                          </a:solidFill>
                          <a:latin typeface="Arial"/>
                        </a:rPr>
                        <a:t>$111.000.000</a:t>
                      </a:r>
                    </a:p>
                  </a:txBody>
                  <a:tcPr marL="54864" marR="54864" marT="18288" marB="18288" anchor="ctr">
                    <a:solidFill>
                      <a:srgbClr val="FFFFFF"/>
                    </a:solidFill>
                  </a:tcPr>
                </a:tc>
                <a:tc>
                  <a:txBody>
                    <a:bodyPr wrap="square"/>
                    <a:lstStyle/>
                    <a:p>
                      <a:pPr algn="r"/>
                      <a:r>
                        <a:rPr sz="1250" b="0">
                          <a:solidFill>
                            <a:srgbClr val="404040"/>
                          </a:solidFill>
                          <a:latin typeface="Arial"/>
                        </a:rPr>
                        <a:t>+$22.965.000</a:t>
                      </a:r>
                    </a:p>
                  </a:txBody>
                  <a:tcPr marL="54864" marR="54864" marT="18288" marB="18288" anchor="ctr">
                    <a:solidFill>
                      <a:srgbClr val="FFFFFF"/>
                    </a:solidFill>
                  </a:tcPr>
                </a:tc>
              </a:tr>
            </a:tbl>
          </a:graphicData>
        </a:graphic>
      </p:graphicFrame>
      <p:sp>
        <p:nvSpPr>
          <p:cNvPr id="6" name="Rectangle 5"/>
          <p:cNvSpPr/>
          <p:nvPr/>
        </p:nvSpPr>
        <p:spPr>
          <a:xfrm>
            <a:off x="6720840" y="2148840"/>
            <a:ext cx="5074920" cy="1371600"/>
          </a:xfrm>
          <a:prstGeom prst="rect">
            <a:avLst/>
          </a:prstGeom>
          <a:solidFill>
            <a:srgbClr val="F7F9FB"/>
          </a:solidFill>
          <a:ln w="15875">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B03030"/>
                </a:solidFill>
                <a:latin typeface="Arial"/>
              </a:rPr>
              <a:t>EL RUBRO MÁS RELEVANTE DEL COSTO</a:t>
            </a:r>
          </a:p>
          <a:p>
            <a:pPr algn="l">
              <a:spcBef>
                <a:spcPts val="0"/>
              </a:spcBef>
              <a:spcAft>
                <a:spcPts val="600"/>
              </a:spcAft>
            </a:pPr>
            <a:r>
              <a:rPr sz="1250" b="0" i="0">
                <a:solidFill>
                  <a:srgbClr val="404040"/>
                </a:solidFill>
                <a:latin typeface="Arial"/>
              </a:rPr>
              <a:t>La nómina son $55.800.000 de los $88.035.000 de costos: el 63 %. Es un desarrollador y un comercial a medio tiempo, más 5 aprendices con un estipendio de apoyo.</a:t>
            </a:r>
          </a:p>
        </p:txBody>
      </p:sp>
      <p:sp>
        <p:nvSpPr>
          <p:cNvPr id="7" name="Rectangle 6"/>
          <p:cNvSpPr/>
          <p:nvPr/>
        </p:nvSpPr>
        <p:spPr>
          <a:xfrm>
            <a:off x="6720840" y="3657600"/>
            <a:ext cx="5074920" cy="1508760"/>
          </a:xfrm>
          <a:prstGeom prst="rect">
            <a:avLst/>
          </a:prstGeom>
          <a:solidFill>
            <a:srgbClr val="F7F9FB"/>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1F4E79"/>
                </a:solidFill>
                <a:latin typeface="Arial"/>
              </a:rPr>
              <a:t>EL RIESGO REAL</a:t>
            </a:r>
          </a:p>
          <a:p>
            <a:pPr algn="l">
              <a:spcBef>
                <a:spcPts val="0"/>
              </a:spcBef>
              <a:spcAft>
                <a:spcPts val="600"/>
              </a:spcAft>
            </a:pPr>
            <a:r>
              <a:rPr sz="1250" b="0" i="0">
                <a:solidFill>
                  <a:srgbClr val="404040"/>
                </a:solidFill>
                <a:latin typeface="Arial"/>
              </a:rPr>
              <a:t>El caso base son 20 colegios: solo 4 por encima del equilibrio. Si los 20 fueran Plan Básico, la utilidad caería a $5.965.000. Por eso la mezcla de planes no es un supuesto: es una condición del equilibrio.</a:t>
            </a:r>
          </a:p>
        </p:txBody>
      </p:sp>
      <p:sp>
        <p:nvSpPr>
          <p:cNvPr id="8" name="TextBox 7"/>
          <p:cNvSpPr txBox="1"/>
          <p:nvPr/>
        </p:nvSpPr>
        <p:spPr>
          <a:xfrm>
            <a:off x="411480" y="6355080"/>
            <a:ext cx="11384280" cy="320040"/>
          </a:xfrm>
          <a:prstGeom prst="rect">
            <a:avLst/>
          </a:prstGeom>
          <a:noFill/>
        </p:spPr>
        <p:txBody>
          <a:bodyPr wrap="square" lIns="0" rIns="0">
            <a:spAutoFit/>
          </a:bodyPr>
          <a:lstStyle/>
          <a:p>
            <a:pPr algn="l">
              <a:spcBef>
                <a:spcPts val="0"/>
              </a:spcBef>
              <a:spcAft>
                <a:spcPts val="0"/>
              </a:spcAft>
            </a:pPr>
            <a:r>
              <a:rPr sz="1000" b="0" i="0">
                <a:solidFill>
                  <a:srgbClr val="7F7F7F"/>
                </a:solidFill>
                <a:latin typeface="Arial"/>
              </a:rPr>
              <a:t>Costos e ingresos estimados: toda cifra del plan es una estimación. Inversión inicial: $10.945.000.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5.1  ESTRATEGIA ORGANIZACIONAL</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Análisis DOFA</a:t>
            </a:r>
          </a:p>
        </p:txBody>
      </p:sp>
      <p:graphicFrame>
        <p:nvGraphicFramePr>
          <p:cNvPr id="4" name="Table 3"/>
          <p:cNvGraphicFramePr>
            <a:graphicFrameLocks noGrp="1"/>
          </p:cNvGraphicFramePr>
          <p:nvPr/>
        </p:nvGraphicFramePr>
        <p:xfrm>
          <a:off x="411480" y="1554480"/>
          <a:ext cx="5577840" cy="2340864"/>
        </p:xfrm>
        <a:graphic>
          <a:graphicData uri="http://schemas.openxmlformats.org/drawingml/2006/table">
            <a:tbl>
              <a:tblPr firstRow="1" bandRow="1">
                <a:tableStyleId>{5C22544A-7EE6-4342-B048-85BDC9FD1C3A}</a:tableStyleId>
              </a:tblPr>
              <a:tblGrid>
                <a:gridCol w="2788920"/>
                <a:gridCol w="2788920"/>
              </a:tblGrid>
              <a:tr h="512064">
                <a:tc>
                  <a:txBody>
                    <a:bodyPr wrap="square"/>
                    <a:lstStyle/>
                    <a:p>
                      <a:pPr algn="l"/>
                      <a:r>
                        <a:rPr sz="1100" b="1">
                          <a:solidFill>
                            <a:srgbClr val="FFFFFF"/>
                          </a:solidFill>
                          <a:latin typeface="Arial"/>
                        </a:rPr>
                        <a:t>Debilidades</a:t>
                      </a:r>
                    </a:p>
                  </a:txBody>
                  <a:tcPr marL="54864" marR="54864" marT="18288" marB="18288" anchor="ctr">
                    <a:solidFill>
                      <a:srgbClr val="1F4E79"/>
                    </a:solidFill>
                  </a:tcPr>
                </a:tc>
                <a:tc>
                  <a:txBody>
                    <a:bodyPr wrap="square"/>
                    <a:lstStyle/>
                    <a:p>
                      <a:pPr algn="l"/>
                      <a:r>
                        <a:rPr sz="1100" b="1">
                          <a:solidFill>
                            <a:srgbClr val="FFFFFF"/>
                          </a:solidFill>
                          <a:latin typeface="Arial"/>
                        </a:rPr>
                        <a:t>Fortalezas</a:t>
                      </a:r>
                    </a:p>
                  </a:txBody>
                  <a:tcPr marL="54864" marR="54864" marT="18288" marB="18288" anchor="ctr">
                    <a:solidFill>
                      <a:srgbClr val="1F4E79"/>
                    </a:solidFill>
                  </a:tcPr>
                </a:tc>
              </a:tr>
              <a:tr h="457200">
                <a:tc>
                  <a:txBody>
                    <a:bodyPr wrap="square"/>
                    <a:lstStyle/>
                    <a:p>
                      <a:pPr algn="l"/>
                      <a:r>
                        <a:rPr sz="1100" b="0">
                          <a:solidFill>
                            <a:srgbClr val="404040"/>
                          </a:solidFill>
                          <a:latin typeface="Arial"/>
                        </a:rPr>
                        <a:t>Producto joven, sin historial de clientes ni referencias</a:t>
                      </a:r>
                    </a:p>
                  </a:txBody>
                  <a:tcPr marL="54864" marR="54864" marT="18288" marB="18288" anchor="ctr">
                    <a:solidFill>
                      <a:srgbClr val="FFFFFF"/>
                    </a:solidFill>
                  </a:tcPr>
                </a:tc>
                <a:tc>
                  <a:txBody>
                    <a:bodyPr wrap="square"/>
                    <a:lstStyle/>
                    <a:p>
                      <a:pPr algn="l"/>
                      <a:r>
                        <a:rPr sz="1100" b="0">
                          <a:solidFill>
                            <a:srgbClr val="404040"/>
                          </a:solidFill>
                          <a:latin typeface="Arial"/>
                        </a:rPr>
                        <a:t>Cobertura completa del ciclo escolar en una sola plataforma</a:t>
                      </a:r>
                    </a:p>
                  </a:txBody>
                  <a:tcPr marL="54864" marR="54864" marT="18288" marB="18288" anchor="ctr">
                    <a:solidFill>
                      <a:srgbClr val="FFFFFF"/>
                    </a:solidFill>
                  </a:tcPr>
                </a:tc>
              </a:tr>
              <a:tr h="457200">
                <a:tc>
                  <a:txBody>
                    <a:bodyPr wrap="square"/>
                    <a:lstStyle/>
                    <a:p>
                      <a:pPr algn="l"/>
                      <a:r>
                        <a:rPr sz="1100" b="0">
                          <a:solidFill>
                            <a:srgbClr val="404040"/>
                          </a:solidFill>
                          <a:latin typeface="Arial"/>
                        </a:rPr>
                        <a:t>Depende de una base de datos y de conexión en el colegio</a:t>
                      </a:r>
                    </a:p>
                  </a:txBody>
                  <a:tcPr marL="54864" marR="54864" marT="18288" marB="18288" anchor="ctr">
                    <a:solidFill>
                      <a:srgbClr val="F7F9FB"/>
                    </a:solidFill>
                  </a:tcPr>
                </a:tc>
                <a:tc>
                  <a:txBody>
                    <a:bodyPr wrap="square"/>
                    <a:lstStyle/>
                    <a:p>
                      <a:pPr algn="l"/>
                      <a:r>
                        <a:rPr sz="1100" b="0">
                          <a:solidFill>
                            <a:srgbClr val="404040"/>
                          </a:solidFill>
                          <a:latin typeface="Arial"/>
                        </a:rPr>
                        <a:t>Cuatro roles con permisos y bitácora de auditoría</a:t>
                      </a:r>
                    </a:p>
                  </a:txBody>
                  <a:tcPr marL="54864" marR="54864" marT="18288" marB="18288" anchor="ctr">
                    <a:solidFill>
                      <a:srgbClr val="F7F9FB"/>
                    </a:solidFill>
                  </a:tcPr>
                </a:tc>
              </a:tr>
              <a:tr h="457200">
                <a:tc>
                  <a:txBody>
                    <a:bodyPr wrap="square"/>
                    <a:lstStyle/>
                    <a:p>
                      <a:pPr algn="l"/>
                      <a:r>
                        <a:rPr sz="1100" b="0">
                          <a:solidFill>
                            <a:srgbClr val="404040"/>
                          </a:solidFill>
                          <a:latin typeface="Arial"/>
                        </a:rPr>
                        <a:t>Sin aplicación móvil nativa: se accede desde el navegador</a:t>
                      </a:r>
                    </a:p>
                  </a:txBody>
                  <a:tcPr marL="54864" marR="54864" marT="18288" marB="18288" anchor="ctr">
                    <a:solidFill>
                      <a:srgbClr val="FFFFFF"/>
                    </a:solidFill>
                  </a:tcPr>
                </a:tc>
                <a:tc>
                  <a:txBody>
                    <a:bodyPr wrap="square"/>
                    <a:lstStyle/>
                    <a:p>
                      <a:pPr algn="l"/>
                      <a:r>
                        <a:rPr sz="1100" b="0">
                          <a:solidFill>
                            <a:srgbClr val="404040"/>
                          </a:solidFill>
                          <a:latin typeface="Arial"/>
                        </a:rPr>
                        <a:t>Arquitectura propia y de código abierto, sin licencias</a:t>
                      </a:r>
                    </a:p>
                  </a:txBody>
                  <a:tcPr marL="54864" marR="54864" marT="18288" marB="18288" anchor="ctr">
                    <a:solidFill>
                      <a:srgbClr val="FFFFFF"/>
                    </a:solidFill>
                  </a:tcPr>
                </a:tc>
              </a:tr>
              <a:tr h="457200">
                <a:tc>
                  <a:txBody>
                    <a:bodyPr wrap="square"/>
                    <a:lstStyle/>
                    <a:p>
                      <a:pPr algn="l"/>
                      <a:r>
                        <a:rPr sz="1100" b="0">
                          <a:solidFill>
                            <a:srgbClr val="404040"/>
                          </a:solidFill>
                          <a:latin typeface="Arial"/>
                        </a:rPr>
                        <a:t>Equipo de cinco personas, sin presupuesto para soporte</a:t>
                      </a:r>
                    </a:p>
                  </a:txBody>
                  <a:tcPr marL="54864" marR="54864" marT="18288" marB="18288" anchor="ctr">
                    <a:solidFill>
                      <a:srgbClr val="F7F9FB"/>
                    </a:solidFill>
                  </a:tcPr>
                </a:tc>
                <a:tc>
                  <a:txBody>
                    <a:bodyPr wrap="square"/>
                    <a:lstStyle/>
                    <a:p>
                      <a:pPr algn="l"/>
                      <a:r>
                        <a:rPr sz="1100" b="0">
                          <a:solidFill>
                            <a:srgbClr val="404040"/>
                          </a:solidFill>
                          <a:latin typeface="Arial"/>
                        </a:rPr>
                        <a:t>Costo operativo bajo: un solo servidor</a:t>
                      </a:r>
                    </a:p>
                  </a:txBody>
                  <a:tcPr marL="54864" marR="54864" marT="18288" marB="18288" anchor="ctr">
                    <a:solidFill>
                      <a:srgbClr val="F7F9FB"/>
                    </a:solidFill>
                  </a:tcPr>
                </a:tc>
              </a:tr>
            </a:tbl>
          </a:graphicData>
        </a:graphic>
      </p:graphicFrame>
      <p:graphicFrame>
        <p:nvGraphicFramePr>
          <p:cNvPr id="5" name="Table 4"/>
          <p:cNvGraphicFramePr>
            <a:graphicFrameLocks noGrp="1"/>
          </p:cNvGraphicFramePr>
          <p:nvPr/>
        </p:nvGraphicFramePr>
        <p:xfrm>
          <a:off x="6309360" y="1554480"/>
          <a:ext cx="5486400" cy="2340864"/>
        </p:xfrm>
        <a:graphic>
          <a:graphicData uri="http://schemas.openxmlformats.org/drawingml/2006/table">
            <a:tbl>
              <a:tblPr firstRow="1" bandRow="1">
                <a:tableStyleId>{5C22544A-7EE6-4342-B048-85BDC9FD1C3A}</a:tableStyleId>
              </a:tblPr>
              <a:tblGrid>
                <a:gridCol w="2743200"/>
                <a:gridCol w="2743200"/>
              </a:tblGrid>
              <a:tr h="512064">
                <a:tc>
                  <a:txBody>
                    <a:bodyPr wrap="square"/>
                    <a:lstStyle/>
                    <a:p>
                      <a:pPr algn="l"/>
                      <a:r>
                        <a:rPr sz="1100" b="1">
                          <a:solidFill>
                            <a:srgbClr val="FFFFFF"/>
                          </a:solidFill>
                          <a:latin typeface="Arial"/>
                        </a:rPr>
                        <a:t>Oportunidades</a:t>
                      </a:r>
                    </a:p>
                  </a:txBody>
                  <a:tcPr marL="54864" marR="54864" marT="18288" marB="18288" anchor="ctr">
                    <a:solidFill>
                      <a:srgbClr val="1F4E79"/>
                    </a:solidFill>
                  </a:tcPr>
                </a:tc>
                <a:tc>
                  <a:txBody>
                    <a:bodyPr wrap="square"/>
                    <a:lstStyle/>
                    <a:p>
                      <a:pPr algn="l"/>
                      <a:r>
                        <a:rPr sz="1100" b="1">
                          <a:solidFill>
                            <a:srgbClr val="FFFFFF"/>
                          </a:solidFill>
                          <a:latin typeface="Arial"/>
                        </a:rPr>
                        <a:t>Amenazas</a:t>
                      </a:r>
                    </a:p>
                  </a:txBody>
                  <a:tcPr marL="54864" marR="54864" marT="18288" marB="18288" anchor="ctr">
                    <a:solidFill>
                      <a:srgbClr val="1F4E79"/>
                    </a:solidFill>
                  </a:tcPr>
                </a:tc>
              </a:tr>
              <a:tr h="457200">
                <a:tc>
                  <a:txBody>
                    <a:bodyPr wrap="square"/>
                    <a:lstStyle/>
                    <a:p>
                      <a:pPr algn="l"/>
                      <a:r>
                        <a:rPr sz="1100" b="0">
                          <a:solidFill>
                            <a:srgbClr val="404040"/>
                          </a:solidFill>
                          <a:latin typeface="Arial"/>
                        </a:rPr>
                        <a:t>Normativa del MEN en cambio permanente</a:t>
                      </a:r>
                    </a:p>
                  </a:txBody>
                  <a:tcPr marL="54864" marR="54864" marT="18288" marB="18288" anchor="ctr">
                    <a:solidFill>
                      <a:srgbClr val="FFFFFF"/>
                    </a:solidFill>
                  </a:tcPr>
                </a:tc>
                <a:tc>
                  <a:txBody>
                    <a:bodyPr wrap="square"/>
                    <a:lstStyle/>
                    <a:p>
                      <a:pPr algn="l"/>
                      <a:r>
                        <a:rPr sz="1100" b="0">
                          <a:solidFill>
                            <a:srgbClr val="404040"/>
                          </a:solidFill>
                          <a:latin typeface="Arial"/>
                        </a:rPr>
                        <a:t>Competencia de sistemas ya instalados y consolidados</a:t>
                      </a:r>
                    </a:p>
                  </a:txBody>
                  <a:tcPr marL="54864" marR="54864" marT="18288" marB="18288" anchor="ctr">
                    <a:solidFill>
                      <a:srgbClr val="FFFFFF"/>
                    </a:solidFill>
                  </a:tcPr>
                </a:tc>
              </a:tr>
              <a:tr h="457200">
                <a:tc>
                  <a:txBody>
                    <a:bodyPr wrap="square"/>
                    <a:lstStyle/>
                    <a:p>
                      <a:pPr algn="l"/>
                      <a:r>
                        <a:rPr sz="1100" b="0">
                          <a:solidFill>
                            <a:srgbClr val="404040"/>
                          </a:solidFill>
                          <a:latin typeface="Arial"/>
                        </a:rPr>
                        <a:t>Bajo nivel de digitalización: aún con libros y planillas</a:t>
                      </a:r>
                    </a:p>
                  </a:txBody>
                  <a:tcPr marL="54864" marR="54864" marT="18288" marB="18288" anchor="ctr">
                    <a:solidFill>
                      <a:srgbClr val="F7F9FB"/>
                    </a:solidFill>
                  </a:tcPr>
                </a:tc>
                <a:tc>
                  <a:txBody>
                    <a:bodyPr wrap="square"/>
                    <a:lstStyle/>
                    <a:p>
                      <a:pPr algn="l"/>
                      <a:r>
                        <a:rPr sz="1100" b="0">
                          <a:solidFill>
                            <a:srgbClr val="404040"/>
                          </a:solidFill>
                          <a:latin typeface="Arial"/>
                        </a:rPr>
                        <a:t>Resistencia al cambio de directivos y docentes</a:t>
                      </a:r>
                    </a:p>
                  </a:txBody>
                  <a:tcPr marL="54864" marR="54864" marT="18288" marB="18288" anchor="ctr">
                    <a:solidFill>
                      <a:srgbClr val="F7F9FB"/>
                    </a:solidFill>
                  </a:tcPr>
                </a:tc>
              </a:tr>
              <a:tr h="457200">
                <a:tc>
                  <a:txBody>
                    <a:bodyPr wrap="square"/>
                    <a:lstStyle/>
                    <a:p>
                      <a:pPr algn="l"/>
                      <a:r>
                        <a:rPr sz="1100" b="0">
                          <a:solidFill>
                            <a:srgbClr val="404040"/>
                          </a:solidFill>
                          <a:latin typeface="Arial"/>
                        </a:rPr>
                        <a:t>Tendencia a boletines en línea y comunicación con apoderados</a:t>
                      </a:r>
                    </a:p>
                  </a:txBody>
                  <a:tcPr marL="54864" marR="54864" marT="18288" marB="18288" anchor="ctr">
                    <a:solidFill>
                      <a:srgbClr val="FFFFFF"/>
                    </a:solidFill>
                  </a:tcPr>
                </a:tc>
                <a:tc>
                  <a:txBody>
                    <a:bodyPr wrap="square"/>
                    <a:lstStyle/>
                    <a:p>
                      <a:pPr algn="l"/>
                      <a:r>
                        <a:rPr sz="1100" b="0">
                          <a:solidFill>
                            <a:srgbClr val="404040"/>
                          </a:solidFill>
                          <a:latin typeface="Arial"/>
                        </a:rPr>
                        <a:t>Cambios normativos exigen desarrollo sin ingreso adicional</a:t>
                      </a:r>
                    </a:p>
                  </a:txBody>
                  <a:tcPr marL="54864" marR="54864" marT="18288" marB="18288" anchor="ctr">
                    <a:solidFill>
                      <a:srgbClr val="FFFFFF"/>
                    </a:solidFill>
                  </a:tcPr>
                </a:tc>
              </a:tr>
              <a:tr h="457200">
                <a:tc>
                  <a:txBody>
                    <a:bodyPr wrap="square"/>
                    <a:lstStyle/>
                    <a:p>
                      <a:pPr algn="l"/>
                      <a:r>
                        <a:rPr sz="1100" b="0">
                          <a:solidFill>
                            <a:srgbClr val="404040"/>
                          </a:solidFill>
                          <a:latin typeface="Arial"/>
                        </a:rPr>
                        <a:t>Posible ampliación a otros países de la región</a:t>
                      </a:r>
                    </a:p>
                  </a:txBody>
                  <a:tcPr marL="54864" marR="54864" marT="18288" marB="18288" anchor="ctr">
                    <a:solidFill>
                      <a:srgbClr val="F7F9FB"/>
                    </a:solidFill>
                  </a:tcPr>
                </a:tc>
                <a:tc>
                  <a:txBody>
                    <a:bodyPr wrap="square"/>
                    <a:lstStyle/>
                    <a:p>
                      <a:pPr algn="l"/>
                      <a:r>
                        <a:rPr sz="1100" b="0">
                          <a:solidFill>
                            <a:srgbClr val="404040"/>
                          </a:solidFill>
                          <a:latin typeface="Arial"/>
                        </a:rPr>
                        <a:t>La licencia de software es de los primeros gastos que se recortan</a:t>
                      </a:r>
                    </a:p>
                  </a:txBody>
                  <a:tcPr marL="54864" marR="54864" marT="18288" marB="18288" anchor="ctr">
                    <a:solidFill>
                      <a:srgbClr val="F7F9FB"/>
                    </a:solidFill>
                  </a:tcPr>
                </a:tc>
              </a:tr>
            </a:tbl>
          </a:graphicData>
        </a:graphic>
      </p:graphicFrame>
      <p:sp>
        <p:nvSpPr>
          <p:cNvPr id="6" name="Rectangle 5"/>
          <p:cNvSpPr/>
          <p:nvPr/>
        </p:nvSpPr>
        <p:spPr>
          <a:xfrm>
            <a:off x="411480" y="3840480"/>
            <a:ext cx="11384280" cy="2103120"/>
          </a:xfrm>
          <a:prstGeom prst="rect">
            <a:avLst/>
          </a:prstGeom>
          <a:solidFill>
            <a:srgbClr val="F7F9FB"/>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1F4E79"/>
                </a:solidFill>
                <a:latin typeface="Arial"/>
              </a:rPr>
              <a:t>PLAN DE MITIGACIÓN DEL RIESGO PRINCIPAL</a:t>
            </a:r>
          </a:p>
          <a:p>
            <a:pPr algn="l">
              <a:spcBef>
                <a:spcPts val="0"/>
              </a:spcBef>
              <a:spcAft>
                <a:spcPts val="600"/>
              </a:spcAft>
            </a:pPr>
            <a:r>
              <a:rPr sz="1500" b="0" i="0">
                <a:solidFill>
                  <a:srgbClr val="404040"/>
                </a:solidFill>
                <a:latin typeface="Arial"/>
              </a:rPr>
              <a:t>La amenaza real es la resistencia al cambio, no la competencia técnica. Por eso el plan NO comercializa hasta el mes 6: antes están la capacitación por rol, el manual, los tutoriales y el piloto con dos colegios. El soporte técnico cubre la parte técnica y el acompañamiento diario cubre la otra.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a:lstStyle/>
          <a:p>
            <a:pPr algn="l">
              <a:spcBef>
                <a:spcPts val="0"/>
              </a:spcBef>
              <a:spcAft>
                <a:spcPts val="0"/>
              </a:spcAft>
            </a:pPr>
            <a:r>
              <a:rPr sz="1200" b="1" i="0">
                <a:solidFill>
                  <a:srgbClr val="FFFFFF"/>
                </a:solidFill>
                <a:latin typeface="Arial"/>
              </a:rPr>
              <a:t>6.1  METAS SOCIALES DEL PROYECTO</a:t>
            </a:r>
          </a:p>
        </p:txBody>
      </p:sp>
      <p:sp>
        <p:nvSpPr>
          <p:cNvPr id="3" name="TextBox 2"/>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Impacto</a:t>
            </a:r>
          </a:p>
        </p:txBody>
      </p:sp>
      <p:sp>
        <p:nvSpPr>
          <p:cNvPr id="4" name="Rectangle 3"/>
          <p:cNvSpPr/>
          <p:nvPr/>
        </p:nvSpPr>
        <p:spPr>
          <a:xfrm>
            <a:off x="411480" y="1554480"/>
            <a:ext cx="3657600" cy="4206240"/>
          </a:xfrm>
          <a:prstGeom prst="rect">
            <a:avLst/>
          </a:prstGeom>
          <a:solidFill>
            <a:srgbClr val="F7F9FB"/>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1F4E79"/>
                </a:solidFill>
                <a:latin typeface="Arial"/>
              </a:rPr>
              <a:t>ECONÓMICO</a:t>
            </a:r>
          </a:p>
          <a:p>
            <a:pPr algn="l">
              <a:spcBef>
                <a:spcPts val="0"/>
              </a:spcBef>
              <a:spcAft>
                <a:spcPts val="600"/>
              </a:spcAft>
            </a:pPr>
            <a:r>
              <a:rPr sz="1200" b="0" i="0">
                <a:solidFill>
                  <a:srgbClr val="404040"/>
                </a:solidFill>
                <a:latin typeface="Arial"/>
              </a:rPr>
              <a:t>•  $111.000.000 de ingresos y $22.965.000 de utilidad en el primer año</a:t>
            </a:r>
          </a:p>
          <a:p>
            <a:pPr algn="l">
              <a:spcBef>
                <a:spcPts val="0"/>
              </a:spcBef>
              <a:spcAft>
                <a:spcPts val="600"/>
              </a:spcAft>
            </a:pPr>
            <a:r>
              <a:rPr sz="1200" b="0" i="0">
                <a:solidFill>
                  <a:srgbClr val="404040"/>
                </a:solidFill>
                <a:latin typeface="Arial"/>
              </a:rPr>
              <a:t>•  2 empleos directos desde el mes 6: un desarrollador y un comercial</a:t>
            </a:r>
          </a:p>
          <a:p>
            <a:pPr algn="l">
              <a:spcBef>
                <a:spcPts val="0"/>
              </a:spcBef>
              <a:spcAft>
                <a:spcPts val="600"/>
              </a:spcAft>
            </a:pPr>
            <a:r>
              <a:rPr sz="1200" b="0" i="0">
                <a:solidFill>
                  <a:srgbClr val="404040"/>
                </a:solidFill>
                <a:latin typeface="Arial"/>
              </a:rPr>
              <a:t>•  20 instituciones y cerca de 4.000 estudiantes atendidos en el año 1</a:t>
            </a:r>
          </a:p>
          <a:p>
            <a:pPr algn="l">
              <a:spcBef>
                <a:spcPts val="0"/>
              </a:spcBef>
              <a:spcAft>
                <a:spcPts val="600"/>
              </a:spcAft>
            </a:pPr>
            <a:r>
              <a:rPr sz="1200" b="0" i="0">
                <a:solidFill>
                  <a:srgbClr val="404040"/>
                </a:solidFill>
                <a:latin typeface="Arial"/>
              </a:rPr>
              <a:t>•  Ahorro de 40 a 60 horas mensuales de trabajo administrativo por colegio, sin contratar personal adicional</a:t>
            </a:r>
          </a:p>
        </p:txBody>
      </p:sp>
      <p:sp>
        <p:nvSpPr>
          <p:cNvPr id="5" name="Rectangle 4"/>
          <p:cNvSpPr/>
          <p:nvPr/>
        </p:nvSpPr>
        <p:spPr>
          <a:xfrm>
            <a:off x="4270248" y="1554480"/>
            <a:ext cx="3657600" cy="4206240"/>
          </a:xfrm>
          <a:prstGeom prst="rect">
            <a:avLst/>
          </a:prstGeom>
          <a:solidFill>
            <a:srgbClr val="F7F9FB"/>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2E7D32"/>
                </a:solidFill>
                <a:latin typeface="Arial"/>
              </a:rPr>
              <a:t>SOCIAL</a:t>
            </a:r>
          </a:p>
          <a:p>
            <a:pPr algn="l">
              <a:spcBef>
                <a:spcPts val="0"/>
              </a:spcBef>
              <a:spcAft>
                <a:spcPts val="600"/>
              </a:spcAft>
            </a:pPr>
            <a:r>
              <a:rPr sz="1200" b="0" i="0">
                <a:solidFill>
                  <a:srgbClr val="404040"/>
                </a:solidFill>
                <a:latin typeface="Arial"/>
              </a:rPr>
              <a:t>•  Centraliza y protege la información académica de cerca de 4.000 estudiantes</a:t>
            </a:r>
          </a:p>
          <a:p>
            <a:pPr algn="l">
              <a:spcBef>
                <a:spcPts val="0"/>
              </a:spcBef>
              <a:spcAft>
                <a:spcPts val="600"/>
              </a:spcAft>
            </a:pPr>
            <a:r>
              <a:rPr sz="1200" b="0" i="0">
                <a:solidFill>
                  <a:srgbClr val="404040"/>
                </a:solidFill>
                <a:latin typeface="Arial"/>
              </a:rPr>
              <a:t>•  Bitácora de auditoría que deja registro de quién hizo cada cambio y cuándo</a:t>
            </a:r>
          </a:p>
          <a:p>
            <a:pPr algn="l">
              <a:spcBef>
                <a:spcPts val="0"/>
              </a:spcBef>
              <a:spcAft>
                <a:spcPts val="600"/>
              </a:spcAft>
            </a:pPr>
            <a:r>
              <a:rPr sz="1200" b="0" i="0">
                <a:solidFill>
                  <a:srgbClr val="404040"/>
                </a:solidFill>
                <a:latin typeface="Arial"/>
              </a:rPr>
              <a:t>•  Reduce los errores en el cálculo de notas al aplicar automáticamente las reglas del Ministerio</a:t>
            </a:r>
          </a:p>
          <a:p>
            <a:pPr algn="l">
              <a:spcBef>
                <a:spcPts val="0"/>
              </a:spcBef>
              <a:spcAft>
                <a:spcPts val="600"/>
              </a:spcAft>
            </a:pPr>
            <a:r>
              <a:rPr sz="1200" b="0" i="0">
                <a:solidFill>
                  <a:srgbClr val="404040"/>
                </a:solidFill>
                <a:latin typeface="Arial"/>
              </a:rPr>
              <a:t>•  El apoderado consulta el rendimiento de su hijo desde cualquier dispositivo</a:t>
            </a:r>
          </a:p>
          <a:p>
            <a:pPr algn="l">
              <a:spcBef>
                <a:spcPts val="0"/>
              </a:spcBef>
              <a:spcAft>
                <a:spcPts val="600"/>
              </a:spcAft>
            </a:pPr>
            <a:r>
              <a:rPr sz="1200" b="0" i="0">
                <a:solidFill>
                  <a:srgbClr val="404040"/>
                </a:solidFill>
                <a:latin typeface="Arial"/>
              </a:rPr>
              <a:t>•  Capacita al personal de los colegios en herramientas digitales</a:t>
            </a:r>
          </a:p>
        </p:txBody>
      </p:sp>
      <p:sp>
        <p:nvSpPr>
          <p:cNvPr id="6" name="Rectangle 5"/>
          <p:cNvSpPr/>
          <p:nvPr/>
        </p:nvSpPr>
        <p:spPr>
          <a:xfrm>
            <a:off x="8129016" y="1554480"/>
            <a:ext cx="3657600" cy="4206240"/>
          </a:xfrm>
          <a:prstGeom prst="rect">
            <a:avLst/>
          </a:prstGeom>
          <a:solidFill>
            <a:srgbClr val="F7F9FB"/>
          </a:solidFill>
          <a:ln w="15875">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l">
              <a:spcBef>
                <a:spcPts val="0"/>
              </a:spcBef>
              <a:spcAft>
                <a:spcPts val="600"/>
              </a:spcAft>
            </a:pPr>
            <a:r>
              <a:rPr sz="1200" b="1" i="0">
                <a:solidFill>
                  <a:srgbClr val="2E74B5"/>
                </a:solidFill>
                <a:latin typeface="Arial"/>
              </a:rPr>
              <a:t>AMBIENTAL</a:t>
            </a:r>
          </a:p>
          <a:p>
            <a:pPr algn="l">
              <a:spcBef>
                <a:spcPts val="0"/>
              </a:spcBef>
              <a:spcAft>
                <a:spcPts val="600"/>
              </a:spcAft>
            </a:pPr>
            <a:r>
              <a:rPr sz="1200" b="0" i="0">
                <a:solidFill>
                  <a:srgbClr val="404040"/>
                </a:solidFill>
                <a:latin typeface="Arial"/>
              </a:rPr>
              <a:t>•  Boletines y certificados en PDF: unos 3.600 pliegos menos al año por colegio, cerca de 7 resmas</a:t>
            </a:r>
          </a:p>
          <a:p>
            <a:pPr algn="l">
              <a:spcBef>
                <a:spcPts val="0"/>
              </a:spcBef>
              <a:spcAft>
                <a:spcPts val="600"/>
              </a:spcAft>
            </a:pPr>
            <a:r>
              <a:rPr sz="1200" b="0" i="0">
                <a:solidFill>
                  <a:srgbClr val="404040"/>
                </a:solidFill>
                <a:latin typeface="Arial"/>
              </a:rPr>
              <a:t>•  Reduce la impresión de planillas: la consulta y el filtrado se hacen en pantalla</a:t>
            </a:r>
          </a:p>
          <a:p>
            <a:pPr algn="l">
              <a:spcBef>
                <a:spcPts val="0"/>
              </a:spcBef>
              <a:spcAft>
                <a:spcPts val="600"/>
              </a:spcAft>
            </a:pPr>
            <a:r>
              <a:rPr sz="1200" b="0" i="0">
                <a:solidFill>
                  <a:srgbClr val="404040"/>
                </a:solidFill>
                <a:latin typeface="Arial"/>
              </a:rPr>
              <a:t>•  El soporte por vía remota disminuye los desplazamientos del equipo a las instituciones</a:t>
            </a:r>
          </a:p>
          <a:p>
            <a:pPr algn="l">
              <a:spcBef>
                <a:spcPts val="0"/>
              </a:spcBef>
              <a:spcAft>
                <a:spcPts val="600"/>
              </a:spcAft>
            </a:pPr>
            <a:r>
              <a:rPr sz="1200" b="0" i="0">
                <a:solidFill>
                  <a:srgbClr val="404040"/>
                </a:solidFill>
                <a:latin typeface="Arial"/>
              </a:rPr>
              <a:t>•  Un solo servidor en la nube: huella de carbono baja</a:t>
            </a:r>
          </a:p>
          <a:p>
            <a:pPr algn="l">
              <a:spcBef>
                <a:spcPts val="0"/>
              </a:spcBef>
              <a:spcAft>
                <a:spcPts val="600"/>
              </a:spcAft>
            </a:pPr>
            <a:r>
              <a:rPr sz="1200" b="0" i="0">
                <a:solidFill>
                  <a:srgbClr val="404040"/>
                </a:solidFill>
                <a:latin typeface="Arial"/>
              </a:rPr>
              <a:t>•  Plan de mitigación: doble cara en materiales propios y separación de residuos electrónicos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548640"/>
            <a:ext cx="11384280" cy="914400"/>
          </a:xfrm>
          <a:prstGeom prst="rect">
            <a:avLst/>
          </a:prstGeom>
          <a:noFill/>
        </p:spPr>
        <p:txBody>
          <a:bodyPr wrap="square" lIns="0" rIns="0">
            <a:spAutoFit/>
          </a:bodyPr>
          <a:lstStyle/>
          <a:p>
            <a:pPr algn="l">
              <a:spcBef>
                <a:spcPts val="0"/>
              </a:spcBef>
              <a:spcAft>
                <a:spcPts val="0"/>
              </a:spcAft>
            </a:pPr>
            <a:r>
              <a:rPr sz="2800" b="1" i="0">
                <a:solidFill>
                  <a:srgbClr val="1F4E79"/>
                </a:solidFill>
                <a:latin typeface="Arial"/>
              </a:rPr>
              <a:t>Cierre</a:t>
            </a:r>
          </a:p>
        </p:txBody>
      </p:sp>
      <p:sp>
        <p:nvSpPr>
          <p:cNvPr id="3" name="TextBox 2"/>
          <p:cNvSpPr txBox="1"/>
          <p:nvPr/>
        </p:nvSpPr>
        <p:spPr>
          <a:xfrm>
            <a:off x="411480" y="1371600"/>
            <a:ext cx="11384280" cy="1463040"/>
          </a:xfrm>
          <a:prstGeom prst="rect">
            <a:avLst/>
          </a:prstGeom>
          <a:noFill/>
        </p:spPr>
        <p:txBody>
          <a:bodyPr wrap="square" lIns="0" rIns="0">
            <a:spAutoFit/>
          </a:bodyPr>
          <a:lstStyle/>
          <a:p>
            <a:pPr algn="l">
              <a:spcBef>
                <a:spcPts val="0"/>
              </a:spcBef>
              <a:spcAft>
                <a:spcPts val="800"/>
              </a:spcAft>
            </a:pPr>
            <a:r>
              <a:rPr sz="2000" b="0" i="0">
                <a:solidFill>
                  <a:srgbClr val="404040"/>
                </a:solidFill>
                <a:latin typeface="Arial"/>
              </a:rPr>
              <a:t>EasyNotes v2 es un sistema que ya existe, con su plan de negocio:</a:t>
            </a:r>
          </a:p>
          <a:p>
            <a:pPr algn="l">
              <a:spcBef>
                <a:spcPts val="0"/>
              </a:spcBef>
              <a:spcAft>
                <a:spcPts val="0"/>
              </a:spcAft>
            </a:pPr>
            <a:r>
              <a:rPr sz="2000" b="1" i="0">
                <a:solidFill>
                  <a:srgbClr val="1F4E79"/>
                </a:solidFill>
                <a:latin typeface="Arial"/>
              </a:rPr>
              <a:t>se comercializa como servicio por suscripción, integra lo que estaba en sistemas separados y aplica las reglas del Ministerio por sí solo.</a:t>
            </a:r>
          </a:p>
        </p:txBody>
      </p:sp>
      <p:sp>
        <p:nvSpPr>
          <p:cNvPr id="4" name="TextBox 3"/>
          <p:cNvSpPr txBox="1"/>
          <p:nvPr/>
        </p:nvSpPr>
        <p:spPr>
          <a:xfrm>
            <a:off x="411480" y="3063240"/>
            <a:ext cx="6766560" cy="2377440"/>
          </a:xfrm>
          <a:prstGeom prst="rect">
            <a:avLst/>
          </a:prstGeom>
          <a:noFill/>
        </p:spPr>
        <p:txBody>
          <a:bodyPr wrap="square" lIns="0" rIns="0">
            <a:spAutoFit/>
          </a:bodyPr>
          <a:lstStyle/>
          <a:p>
            <a:pPr algn="l">
              <a:spcBef>
                <a:spcPts val="0"/>
              </a:spcBef>
              <a:spcAft>
                <a:spcPts val="1000"/>
              </a:spcAft>
            </a:pPr>
            <a:r>
              <a:rPr sz="1500" b="0" i="0">
                <a:solidFill>
                  <a:srgbClr val="404040"/>
                </a:solidFill>
                <a:latin typeface="Arial"/>
              </a:rPr>
              <a:t>•  Mercado con baja digitalización: colegios que aún trabajan con libros y planillas</a:t>
            </a:r>
          </a:p>
          <a:p>
            <a:pPr algn="l">
              <a:spcBef>
                <a:spcPts val="0"/>
              </a:spcBef>
              <a:spcAft>
                <a:spcPts val="1000"/>
              </a:spcAft>
            </a:pPr>
            <a:r>
              <a:rPr sz="1500" b="0" i="0">
                <a:solidFill>
                  <a:srgbClr val="404040"/>
                </a:solidFill>
                <a:latin typeface="Arial"/>
              </a:rPr>
              <a:t>•  20 colegios y cerca de 4.000 estudiantes en el año 1</a:t>
            </a:r>
          </a:p>
          <a:p>
            <a:pPr algn="l">
              <a:spcBef>
                <a:spcPts val="0"/>
              </a:spcBef>
              <a:spcAft>
                <a:spcPts val="1000"/>
              </a:spcAft>
            </a:pPr>
            <a:r>
              <a:rPr sz="1500" b="0" i="0">
                <a:solidFill>
                  <a:srgbClr val="404040"/>
                </a:solidFill>
                <a:latin typeface="Arial"/>
              </a:rPr>
              <a:t>•  $111 M de ingresos y 20,7 % de margen</a:t>
            </a:r>
          </a:p>
          <a:p>
            <a:pPr algn="l">
              <a:spcBef>
                <a:spcPts val="0"/>
              </a:spcBef>
              <a:spcAft>
                <a:spcPts val="1000"/>
              </a:spcAft>
            </a:pPr>
            <a:r>
              <a:rPr sz="1500" b="0" i="0">
                <a:solidFill>
                  <a:srgbClr val="404040"/>
                </a:solidFill>
                <a:latin typeface="Arial"/>
              </a:rPr>
              <a:t>•  Equilibrio en 16 colegios: con la mitad de la meta ya hay utilidad</a:t>
            </a:r>
          </a:p>
          <a:p>
            <a:pPr algn="l">
              <a:spcBef>
                <a:spcPts val="0"/>
              </a:spcBef>
              <a:spcAft>
                <a:spcPts val="1000"/>
              </a:spcAft>
            </a:pPr>
            <a:r>
              <a:rPr sz="1500" b="0" i="0">
                <a:solidFill>
                  <a:srgbClr val="404040"/>
                </a:solidFill>
                <a:latin typeface="Arial"/>
              </a:rPr>
              <a:t>•  Sin licencias de software: el costo depende del servicio, no del volumen</a:t>
            </a:r>
          </a:p>
        </p:txBody>
      </p:sp>
      <p:sp>
        <p:nvSpPr>
          <p:cNvPr id="5" name="Rectangle 4"/>
          <p:cNvSpPr/>
          <p:nvPr/>
        </p:nvSpPr>
        <p:spPr>
          <a:xfrm>
            <a:off x="7498079" y="3017520"/>
            <a:ext cx="4297680" cy="228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l">
              <a:spcBef>
                <a:spcPts val="0"/>
              </a:spcBef>
              <a:spcAft>
                <a:spcPts val="800"/>
              </a:spcAft>
            </a:pPr>
            <a:r>
              <a:rPr sz="1300" b="1" i="0">
                <a:solidFill>
                  <a:srgbClr val="FFFFFF"/>
                </a:solidFill>
                <a:latin typeface="Arial"/>
              </a:rPr>
              <a:t>¿QUÉ NECESITAMOS?</a:t>
            </a:r>
          </a:p>
          <a:p>
            <a:pPr algn="l">
              <a:spcBef>
                <a:spcPts val="0"/>
              </a:spcBef>
              <a:spcAft>
                <a:spcPts val="600"/>
              </a:spcAft>
            </a:pPr>
            <a:r>
              <a:rPr sz="1300" b="0" i="0">
                <a:solidFill>
                  <a:srgbClr val="FFFFFF"/>
                </a:solidFill>
                <a:latin typeface="Arial"/>
              </a:rPr>
              <a:t>1. Autorización para el piloto con dos colegios asociados</a:t>
            </a:r>
          </a:p>
          <a:p>
            <a:pPr algn="l">
              <a:spcBef>
                <a:spcPts val="0"/>
              </a:spcBef>
              <a:spcAft>
                <a:spcPts val="600"/>
              </a:spcAft>
            </a:pPr>
            <a:r>
              <a:rPr sz="1300" b="0" i="0">
                <a:solidFill>
                  <a:srgbClr val="FFFFFF"/>
                </a:solidFill>
                <a:latin typeface="Arial"/>
              </a:rPr>
              <a:t>2. Acompañamiento del instructor en las visitas comerciales</a:t>
            </a:r>
          </a:p>
          <a:p>
            <a:pPr algn="l">
              <a:spcBef>
                <a:spcPts val="0"/>
              </a:spcBef>
              <a:spcAft>
                <a:spcPts val="0"/>
              </a:spcAft>
            </a:pPr>
            <a:r>
              <a:rPr sz="1300" b="0" i="0">
                <a:solidFill>
                  <a:srgbClr val="FFFFFF"/>
                </a:solidFill>
                <a:latin typeface="Arial"/>
              </a:rPr>
              <a:t>3. Validación de los costos y la proyección de ventas del plan</a:t>
            </a:r>
          </a:p>
        </p:txBody>
      </p:sp>
      <p:sp>
        <p:nvSpPr>
          <p:cNvPr id="6" name="TextBox 5"/>
          <p:cNvSpPr txBox="1"/>
          <p:nvPr/>
        </p:nvSpPr>
        <p:spPr>
          <a:xfrm>
            <a:off x="411480" y="6355080"/>
            <a:ext cx="11384280" cy="320040"/>
          </a:xfrm>
          <a:prstGeom prst="rect">
            <a:avLst/>
          </a:prstGeom>
          <a:noFill/>
        </p:spPr>
        <p:txBody>
          <a:bodyPr wrap="square" lIns="0" rIns="0">
            <a:spAutoFit/>
          </a:bodyPr>
          <a:lstStyle/>
          <a:p>
            <a:pPr algn="l">
              <a:spcBef>
                <a:spcPts val="0"/>
              </a:spcBef>
              <a:spcAft>
                <a:spcPts val="0"/>
              </a:spcAft>
            </a:pPr>
            <a:r>
              <a:rPr sz="1000" b="0" i="0">
                <a:solidFill>
                  <a:srgbClr val="7F7F7F"/>
                </a:solidFill>
                <a:latin typeface="Arial"/>
              </a:rPr>
              <a:t>EasyNotes v2  ·  Martín Zapata · Sneyder Gómez · Yorman Gómez · Santiago Sierra · Andrés Avila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EasyNotes v2 - Plan de Negocio Básico 2026</dc:title>
  <dc:subject>Exposición del plan de negocio (15-20 minutos)</dc:subject>
  <dc:creator>Martín Zapata, Sneyder Gómez, Yorman Gómez, Santiago Sierra, Andrés Avila</dc:creator>
  <cp:keywords/>
  <dc:description>Las notas de cada diapositiva contienen el guion del orador, el ponente y el tiempo asignado.</dc:description>
  <cp:lastModifiedBy>Steve Canny</cp:lastModifiedBy>
  <cp:revision>1</cp:revision>
  <dcterms:created xsi:type="dcterms:W3CDTF">2013-01-27T09:14:16Z</dcterms:created>
  <dcterms:modified xsi:type="dcterms:W3CDTF">2013-01-27T09:15:58Z</dcterms:modified>
  <cp:category/>
</cp:coreProperties>
</file>