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daa7e14-69bc-48fc-9749-f94df05b8ef5.fntdata" /><ns0:Relationship Id="rIdFont18" Type="http://schemas.openxmlformats.org/officeDocument/2006/relationships/font" Target="fonts/1278e129-fc03-4362-8e9b-78fdab00598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762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19200"/>
            <a:ext cx="11251406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FFFFF"/>
                </a:solidFill>
                <a:latin typeface="Inter"/>
              </a:rPr>
              <a:t>EasyNotes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860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94A3B8"/>
                </a:solidFill>
                <a:latin typeface="Inter"/>
              </a:rPr>
              <a:t>Plataforma integral SaaS de gestión educativa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29275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867400"/>
            <a:ext cx="2643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Inter"/>
              </a:rPr>
              <a:t>Plan de Negocios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3750" y="5629275"/>
            <a:ext cx="4702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3750" y="5867400"/>
            <a:ext cx="4702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Inter"/>
              </a:rPr>
              <a:t>Zapata • Gómez • Gómez • Sierra • Avila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72816"/>
            <a:ext cx="3454449" cy="23181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2772816"/>
            <a:ext cx="3454449" cy="23181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772816"/>
            <a:ext cx="3454449" cy="23181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72816"/>
            <a:ext cx="3454449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2772816"/>
            <a:ext cx="3454449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772816"/>
            <a:ext cx="345444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91916"/>
            <a:ext cx="2857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49" y="3191916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99" y="3191916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Inter"/>
              </a:rPr>
              <a:t>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620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Gestión escolar vulnerable.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80151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Procesos Manuales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230141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Cálculos en hojas de cálculo y papel.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849" y="380151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Datos Fragmentados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849" y="4230141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Sistemas académicos y contables aislados.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99" y="380151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Inconsistencias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99" y="4230141"/>
            <a:ext cx="27876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Pérdida de información y reclamos.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87016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15641"/>
            <a:ext cx="64008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b="1" sz="10500" i="0" u="none">
                <a:solidFill>
                  <a:srgbClr val="FFFFFF"/>
                </a:solidFill>
                <a:latin typeface="Inter"/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77741"/>
            <a:ext cx="4972050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0" sz="2100" i="0" u="none">
                <a:solidFill>
                  <a:srgbClr val="94A3B8"/>
                </a:solidFill>
                <a:latin typeface="Inter"/>
              </a:rPr>
              <a:t>Fallas operativas por fragmentación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2328862"/>
            <a:ext cx="5486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Respaldo Normativo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3081337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Ley 2170 de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386137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Exigencia tecnológica y digital escolar.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3995737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Decreto 1075 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300537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Trazabilidad académica y reportes estandarizados.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317527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24600" y="3317527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7471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5096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627215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67471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15096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627215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PROPUESTA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Un ecosistema. Dos componentes.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93652"/>
            <a:ext cx="5620702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Inter"/>
              </a:rPr>
              <a:t>Componente Académico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793652"/>
            <a:ext cx="5620702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A34A"/>
                </a:solidFill>
                <a:latin typeface="Inter"/>
              </a:rPr>
              <a:t>Componente Administrativo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641377"/>
            <a:ext cx="3690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Matrículas, notas y asistencia.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117627"/>
            <a:ext cx="40362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Recuperaciones y habilitaciones.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593877"/>
            <a:ext cx="36314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Generación de boletines PDF.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8450" y="3641377"/>
            <a:ext cx="3821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Control de cartera institucional.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450" y="4117627"/>
            <a:ext cx="2738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Gestión de pensiones.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4593877"/>
            <a:ext cx="4429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Inter"/>
              </a:rPr>
              <a:t>Recordatorios automáticos de pago.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09887"/>
            <a:ext cx="2571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9950" y="2909887"/>
            <a:ext cx="2571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0300" y="2909887"/>
            <a:ext cx="2571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10650" y="2909887"/>
            <a:ext cx="2571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33766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376612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150" y="3376612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775" y="3376612"/>
            <a:ext cx="5715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81000" y="762000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Arquitectura Tecnológica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138112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Cero licencias. Código abierto.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315" y="4062412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" y="4405312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React, Vite y Material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665" y="4062412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387" y="4405312"/>
            <a:ext cx="24288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Node.js y framework Express.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1015" y="4062412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737" y="4405312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MongoDB centralizado.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1365" y="4062412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Infraestructura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2087" y="4405312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Acceso 24/7 web en nube.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SEGMENTO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620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El cliente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65077"/>
            <a:ext cx="4973277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1" sz="7500" i="0" u="none">
                <a:solidFill>
                  <a:srgbClr val="2563EB"/>
                </a:solidFill>
                <a:latin typeface="Inter"/>
              </a:rPr>
              <a:t>200 </a:t>
            </a:r>
            <a:r>
              <a:rPr b="0" sz="3000" i="0" u="none">
                <a:solidFill>
                  <a:srgbClr val="0F172A"/>
                </a:solidFill>
                <a:latin typeface="Inter"/>
              </a:rPr>
              <a:t>a</a:t>
            </a:r>
            <a:r>
              <a:rPr b="1" sz="7500" i="0" u="none">
                <a:solidFill>
                  <a:srgbClr val="2563EB"/>
                </a:solidFill>
                <a:latin typeface="Inter"/>
              </a:rPr>
              <a:t> 1.500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822477"/>
            <a:ext cx="58015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Estudiantes matriculados.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705" y="2755552"/>
            <a:ext cx="583629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Instituciones Privadas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705" y="3107977"/>
            <a:ext cx="58362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Decisiones ágiles y presupuesto directo.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705" y="3641377"/>
            <a:ext cx="583629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Una Sola Sede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705" y="3993802"/>
            <a:ext cx="58362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Implementación técnica controlada.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705" y="4527202"/>
            <a:ext cx="583629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Decisor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705" y="4879627"/>
            <a:ext cx="583629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Rectoría y Secretaría Académica.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555527"/>
            <a:ext cx="5324475" cy="27527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38875" y="2555527"/>
            <a:ext cx="5343525" cy="27527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FUENTES DE INGRESOS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Cobro por institución, no por estudiante.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012727"/>
            <a:ext cx="578822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Suscripción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441352"/>
            <a:ext cx="5512593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$1.2M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127152"/>
            <a:ext cx="551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Plan Básico (Hasta 300 estudiantes)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631977"/>
            <a:ext cx="551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Licencia, hospedaje, soporte y actualizaciones.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3022252"/>
            <a:ext cx="5486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Implementación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450877"/>
            <a:ext cx="54864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$3.5M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136677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Pago único inicial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641502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Parametrización, carga de datos y capacitación.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98465"/>
            <a:ext cx="5181600" cy="1466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3198465"/>
            <a:ext cx="5181600" cy="1466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198465"/>
            <a:ext cx="19050" cy="14668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3198465"/>
            <a:ext cx="19050" cy="14668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PROYECCIÓN AÑO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Inter"/>
              </a:rPr>
              <a:t>Economía y viabilidad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19800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Inter"/>
              </a:rPr>
              <a:t>Utilidad proyectada primer año: </a:t>
            </a:r>
            <a:r>
              <a:rPr b="1" sz="1500" i="0" u="none">
                <a:solidFill>
                  <a:srgbClr val="F8FAFC"/>
                </a:solidFill>
                <a:latin typeface="Inter"/>
              </a:rPr>
              <a:t>$22.965.000 COP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198465"/>
            <a:ext cx="637579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4112865"/>
            <a:ext cx="6072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Inter"/>
              </a:rPr>
              <a:t>Colegios para equilibrio.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465290"/>
            <a:ext cx="6072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Cobertura de costos fijos ($82.4M).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198465"/>
            <a:ext cx="546735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FFFFFF"/>
                </a:solidFill>
                <a:latin typeface="Inter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112865"/>
            <a:ext cx="54673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0B981"/>
                </a:solidFill>
                <a:latin typeface="Inter"/>
              </a:rPr>
              <a:t>Colegios meta (Año 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465290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Genera $111M ingresos totales.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50" y="2928937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28937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249" y="2928937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350" y="315753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3157537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2849" y="315753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457200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Impacto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42" y="3919537"/>
            <a:ext cx="45339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Económico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793" y="4348162"/>
            <a:ext cx="431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60 horas administrativas ahorradas.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9091" y="3919537"/>
            <a:ext cx="45339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43" y="4348162"/>
            <a:ext cx="431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Datos seguros para 4.000 estudiantes.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470" y="3919537"/>
            <a:ext cx="44957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Ambiental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293" y="4348162"/>
            <a:ext cx="431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Cero impresión de planillas físicas.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62350" y="3517552"/>
            <a:ext cx="2152650" cy="571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26866" y="1968847"/>
            <a:ext cx="6138267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El siguiente paso.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4531" y="2784127"/>
            <a:ext cx="8262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Autorización de pruebas piloto y acompañamiento comercial.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4609" y="4698652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Inter"/>
              </a:rPr>
              <a:t>Equipo EasyNotes v2 • SENA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8068" y="3669952"/>
            <a:ext cx="2081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Piloto 2 Colegios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368" y="3669952"/>
            <a:ext cx="26527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Inter"/>
              </a:rPr>
              <a:t>Validación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